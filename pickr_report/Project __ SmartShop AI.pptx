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Fira Sans Extra Condensed Medium"/>
      <p:regular r:id="rId43"/>
      <p:bold r:id="rId44"/>
      <p:italic r:id="rId45"/>
      <p:boldItalic r:id="rId46"/>
    </p:embeddedFont>
    <p:embeddedFont>
      <p:font typeface="Fira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">
          <p15:clr>
            <a:srgbClr val="A4A3A4"/>
          </p15:clr>
        </p15:guide>
        <p15:guide id="3" pos="4608">
          <p15:clr>
            <a:srgbClr val="9AA0A6"/>
          </p15:clr>
        </p15:guide>
      </p15:sldGuideLst>
    </p:ext>
    <p:ext uri="GoogleSlidesCustomDataVersion2">
      <go:slidesCustomData xmlns:go="http://customooxmlschemas.google.com/" r:id="rId51" roundtripDataSignature="AMtx7mjxpLoYfayRGky+n+RFD/EMldgZ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CDC9F0-015F-415C-AEFB-390CB38244B4}">
  <a:tblStyle styleId="{92CDC9F0-015F-415C-AEFB-390CB3824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"/>
        <p:guide pos="46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FiraSansExtraCondensedMedium-bold.fntdata"/><Relationship Id="rId43" Type="http://schemas.openxmlformats.org/officeDocument/2006/relationships/font" Target="fonts/FiraSansExtraCondensedMedium-regular.fntdata"/><Relationship Id="rId46" Type="http://schemas.openxmlformats.org/officeDocument/2006/relationships/font" Target="fonts/FiraSansExtraCondensedMedium-boldItalic.fntdata"/><Relationship Id="rId45" Type="http://schemas.openxmlformats.org/officeDocument/2006/relationships/font" Target="fonts/FiraSansExtraCondensedMedium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FiraSans-bold.fntdata"/><Relationship Id="rId47" Type="http://schemas.openxmlformats.org/officeDocument/2006/relationships/font" Target="fonts/FiraSans-regular.fntdata"/><Relationship Id="rId49" Type="http://schemas.openxmlformats.org/officeDocument/2006/relationships/font" Target="fonts/Fira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font" Target="fonts/Roboto-regular.fntdata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customschemas.google.com/relationships/presentationmetadata" Target="metadata"/><Relationship Id="rId50" Type="http://schemas.openxmlformats.org/officeDocument/2006/relationships/font" Target="fonts/Fira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322daea42f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322daea4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22daea42f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322daea42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Check how many students and adapt to typed in responses or poll, as needed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322daea42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322daea42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While explaining, plz mention that these pre videos are mandatory and watching them before the class would increase their understanding &amp; hence improve their learning experience.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While explaining plz mention that these post class videos are not mandatory and don't have any dependency on further classes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322daea42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322daea42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22daea42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322daea42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322daea42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322daea42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-&gt; Hope you all had a nice time during your 4 weeks of live guided project. Now in the upcoming session you have to do an 8-week self paced project. </a:t>
            </a:r>
            <a:br>
              <a:rPr lang="en"/>
            </a:br>
            <a:r>
              <a:rPr lang="en"/>
              <a:t>-&gt; Everyone please comment down your reason for choosing this pathway.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322daea42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322daea42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-&gt; Hope you all had a nice time during your 4 weeks of live guided project. Now in the upcoming session you have to do an 8-week self paced project. </a:t>
            </a:r>
            <a:br>
              <a:rPr lang="en"/>
            </a:br>
            <a:r>
              <a:rPr lang="en"/>
              <a:t>-&gt; Everyone please comment down your reason for choosing this pathway.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322daea42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322daea42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322daea42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322daea42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check the last slide to know when you can utilise which feature.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322fef98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322fef98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22daea42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322daea42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22daea42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322daea42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check the last slide to know when you can utilise which feature.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22daea42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322daea42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322daea42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322daea42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322daea42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322daea42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Assure them not to worry about the technical jargons. We will decode them in sometime.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322daea42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322daea42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Assure them not to worry about the technical jargons. We will decode them in sometime.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22daea42f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322daea42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31f5041ea0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31f5041ea0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Assure them not to worry about the technical jargons. We will decode them in sometime.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31f5041ea0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31f5041ea0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Assure them not to worry about the technical jargons. We will decode them in sometime.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31f5041ea0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31f5041ea0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Assure them not to worry about the technical jargons. We will decode them in sometime.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31f5041ea0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31f5041ea0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Assure them not to worry about the technical jargons. We will decode them in sometime.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31f5041ea0_0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31f5041ea0_0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Assure them not to worry about the technical jargons. We will decode them in sometime.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31f5041ea0_0_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g331f5041ea0_0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Assure them not to worry about the technical jargons. We will decode them in sometime.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31f5041ea0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31f5041ea0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Assure them not to worry about the technical jargons. We will decode them in sometime.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31f5041ea0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31f5041ea0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31f5041ea0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31f5041ea0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31f5041ea0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331f5041ea0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31f5041ea0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31f5041ea0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31f5041ea0_0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31f5041ea0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31f5041ea0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331f5041ea0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Assure them not to worry about the technical jargons. We will decode them in sometime.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31f5041ea0_0_1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331f5041ea0_0_1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31f5041ea0_0_1060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2" name="Google Shape;12;g331f5041ea0_0_10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g331f5041ea0_0_1060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g331f5041ea0_0_10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31f5041ea0_0_1050"/>
          <p:cNvSpPr txBox="1"/>
          <p:nvPr>
            <p:ph idx="12" type="sldNum"/>
          </p:nvPr>
        </p:nvSpPr>
        <p:spPr>
          <a:xfrm>
            <a:off x="37334" y="47339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31f5041ea0_0_10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g331f5041ea0_0_10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0" name="Google Shape;20;g331f5041ea0_0_1046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31f5041ea0_0_10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g331f5041ea0_0_10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31f5041ea0_0_10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331f5041ea0_0_10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31f5041ea0_0_1052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g331f5041ea0_0_1052"/>
          <p:cNvSpPr txBox="1"/>
          <p:nvPr>
            <p:ph idx="12" type="sldNum"/>
          </p:nvPr>
        </p:nvSpPr>
        <p:spPr>
          <a:xfrm>
            <a:off x="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1f5041ea0_0_1065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" name="Google Shape;31;g331f5041ea0_0_10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31f5041ea0_0_1068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" name="Google Shape;34;g331f5041ea0_0_10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31f5041ea0_0_1071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" name="Google Shape;37;g331f5041ea0_0_1071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31f5041ea0_0_10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31f5041ea0_0_1075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" name="Google Shape;41;g331f5041ea0_0_10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31f5041ea0_0_1078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392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" name="Google Shape;44;g331f5041ea0_0_1078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5" name="Google Shape;45;g331f5041ea0_0_1078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6" name="Google Shape;46;g331f5041ea0_0_10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31f5041ea0_0_1083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392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" name="Google Shape;49;g331f5041ea0_0_1083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0" name="Google Shape;50;g331f5041ea0_0_10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31f5041ea0_0_1087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392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" name="Google Shape;53;g331f5041ea0_0_1087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4" name="Google Shape;54;g331f5041ea0_0_1087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5" name="Google Shape;55;g331f5041ea0_0_10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1f5041ea0_0_1092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31f5041ea0_0_1092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g331f5041ea0_0_109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0" name="Google Shape;60;g331f5041ea0_0_109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1" name="Google Shape;61;g331f5041ea0_0_1092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g331f5041ea0_0_10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1f5041ea0_0_1099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31f5041ea0_0_1099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g331f5041ea0_0_109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7" name="Google Shape;67;g331f5041ea0_0_109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8" name="Google Shape;68;g331f5041ea0_0_1099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9" name="Google Shape;69;g331f5041ea0_0_10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1f5041ea0_0_1106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31f5041ea0_0_1106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g331f5041ea0_0_110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4" name="Google Shape;74;g331f5041ea0_0_110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5" name="Google Shape;75;g331f5041ea0_0_1106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g331f5041ea0_0_1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1f5041ea0_0_1113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g331f5041ea0_0_1113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g331f5041ea0_0_1113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31f5041ea0_0_1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1f5041ea0_0_1118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g331f5041ea0_0_1118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85" name="Google Shape;85;g331f5041ea0_0_1118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31f5041ea0_0_11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1f5041ea0_0_11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1f5041ea0_0_11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1f5041ea0_0_1127"/>
          <p:cNvSpPr txBox="1"/>
          <p:nvPr>
            <p:ph idx="12" type="sldNum"/>
          </p:nvPr>
        </p:nvSpPr>
        <p:spPr>
          <a:xfrm>
            <a:off x="62459" y="4707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1f5041ea0_0_11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5" name="Google Shape;95;g331f5041ea0_0_11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6" name="Google Shape;96;g331f5041ea0_0_1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1f5041ea0_0_11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9" name="Google Shape;99;g331f5041ea0_0_11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0" name="Google Shape;100;g331f5041ea0_0_1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1f5041ea0_0_18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g331f5041ea0_0_18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g331f5041ea0_0_18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g331f5041ea0_0_18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1f5041ea0_0_1811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13" name="Google Shape;113;g331f5041ea0_0_18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31f5041ea0_0_1811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31f5041ea0_0_18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1f5041ea0_0_1816"/>
          <p:cNvSpPr txBox="1"/>
          <p:nvPr>
            <p:ph idx="12" type="sldNum"/>
          </p:nvPr>
        </p:nvSpPr>
        <p:spPr>
          <a:xfrm>
            <a:off x="37334" y="47339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1f5041ea0_0_18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g331f5041ea0_0_18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21" name="Google Shape;121;g331f5041ea0_0_1818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1f5041ea0_0_1827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4" name="Google Shape;124;g331f5041ea0_0_1827"/>
          <p:cNvSpPr txBox="1"/>
          <p:nvPr>
            <p:ph idx="12" type="sldNum"/>
          </p:nvPr>
        </p:nvSpPr>
        <p:spPr>
          <a:xfrm>
            <a:off x="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1f5041ea0_0_1830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" name="Google Shape;127;g331f5041ea0_0_18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1f5041ea0_0_1833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0" name="Google Shape;130;g331f5041ea0_0_18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1f5041ea0_0_1836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g331f5041ea0_0_1836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31f5041ea0_0_18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1f5041ea0_0_1840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7" name="Google Shape;137;g331f5041ea0_0_18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1f5041ea0_0_1843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352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0" name="Google Shape;140;g331f5041ea0_0_1843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1" name="Google Shape;141;g331f5041ea0_0_1843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2" name="Google Shape;142;g331f5041ea0_0_18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1f5041ea0_0_1848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352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5" name="Google Shape;145;g331f5041ea0_0_1848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6" name="Google Shape;146;g331f5041ea0_0_18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1f5041ea0_0_1852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3529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" name="Google Shape;149;g331f5041ea0_0_1852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50" name="Google Shape;150;g331f5041ea0_0_1852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51" name="Google Shape;151;g331f5041ea0_0_18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1f5041ea0_0_185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31f5041ea0_0_1857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g331f5041ea0_0_185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56" name="Google Shape;156;g331f5041ea0_0_185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57" name="Google Shape;157;g331f5041ea0_0_1857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g331f5041ea0_0_18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1f5041ea0_0_1864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31f5041ea0_0_1864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g331f5041ea0_0_186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3" name="Google Shape;163;g331f5041ea0_0_186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4" name="Google Shape;164;g331f5041ea0_0_1864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5" name="Google Shape;165;g331f5041ea0_0_18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1f5041ea0_0_1871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31f5041ea0_0_1871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" name="Google Shape;169;g331f5041ea0_0_187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70" name="Google Shape;170;g331f5041ea0_0_187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71" name="Google Shape;171;g331f5041ea0_0_1871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g331f5041ea0_0_18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1f5041ea0_0_1878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g331f5041ea0_0_1878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" name="Google Shape;176;g331f5041ea0_0_1878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31f5041ea0_0_18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1f5041ea0_0_1883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g331f5041ea0_0_1883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181" name="Google Shape;181;g331f5041ea0_0_1883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31f5041ea0_0_18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1f5041ea0_0_18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1f5041ea0_0_18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1f5041ea0_0_1892"/>
          <p:cNvSpPr txBox="1"/>
          <p:nvPr>
            <p:ph idx="12" type="sldNum"/>
          </p:nvPr>
        </p:nvSpPr>
        <p:spPr>
          <a:xfrm>
            <a:off x="62459" y="4707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1f5041ea0_0_189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1" name="Google Shape;191;g331f5041ea0_0_189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2" name="Google Shape;192;g331f5041ea0_0_18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1f5041ea0_0_189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5" name="Google Shape;195;g331f5041ea0_0_189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6" name="Google Shape;196;g331f5041ea0_0_18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34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40.xml"/><Relationship Id="rId6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31f5041ea0_0_10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" name="Google Shape;7;g331f5041ea0_0_10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" name="Google Shape;8;g331f5041ea0_0_10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g331f5041ea0_0_10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751266" y="4703631"/>
            <a:ext cx="1392738" cy="39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1f5041ea0_0_18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3" name="Google Shape;103;g331f5041ea0_0_180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4" name="Google Shape;104;g331f5041ea0_0_18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g331f5041ea0_0_180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751266" y="4703631"/>
            <a:ext cx="1392738" cy="39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0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39.png"/><Relationship Id="rId15" Type="http://schemas.openxmlformats.org/officeDocument/2006/relationships/image" Target="../media/image25.png"/><Relationship Id="rId14" Type="http://schemas.openxmlformats.org/officeDocument/2006/relationships/image" Target="../media/image36.png"/><Relationship Id="rId17" Type="http://schemas.openxmlformats.org/officeDocument/2006/relationships/image" Target="../media/image35.png"/><Relationship Id="rId16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ocs.google.com/spreadsheets/d/1mVhX2c4cvwzcYqHADDhXqe9aiQOTuVLzbcdTzXJhDso/edit?gid=640875754#gid=640875754" TargetMode="External"/><Relationship Id="rId4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42.png"/><Relationship Id="rId7" Type="http://schemas.openxmlformats.org/officeDocument/2006/relationships/image" Target="../media/image29.png"/><Relationship Id="rId8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rive.google.com/drive/folders/1YyHcsgaLBno8ON5eUau2qMZFyMZClfF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22daea42f_0_5"/>
          <p:cNvSpPr txBox="1"/>
          <p:nvPr>
            <p:ph type="ctrTitle"/>
          </p:nvPr>
        </p:nvSpPr>
        <p:spPr>
          <a:xfrm>
            <a:off x="706650" y="1828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5000">
                <a:solidFill>
                  <a:srgbClr val="3896D2"/>
                </a:solidFill>
              </a:rPr>
              <a:t>SmartShop </a:t>
            </a:r>
            <a:r>
              <a:rPr lang="en" sz="5000">
                <a:solidFill>
                  <a:srgbClr val="3896D2"/>
                </a:solidFill>
              </a:rPr>
              <a:t>AI</a:t>
            </a:r>
            <a:endParaRPr/>
          </a:p>
        </p:txBody>
      </p:sp>
      <p:sp>
        <p:nvSpPr>
          <p:cNvPr id="202" name="Google Shape;202;g3322daea42f_0_5"/>
          <p:cNvSpPr txBox="1"/>
          <p:nvPr/>
        </p:nvSpPr>
        <p:spPr>
          <a:xfrm>
            <a:off x="2222125" y="3861425"/>
            <a:ext cx="602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" sz="3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Instructor: Your Name</a:t>
            </a:r>
            <a:endParaRPr b="1" i="0" sz="3400" u="none" cap="none" strike="noStrike">
              <a:solidFill>
                <a:srgbClr val="3896D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22daea42f_0_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latin typeface="Fira Sans"/>
                <a:ea typeface="Fira Sans"/>
                <a:cs typeface="Fira Sans"/>
                <a:sym typeface="Fira Sans"/>
              </a:rPr>
              <a:t>Welcome to today’s class, before we begin, 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latin typeface="Fira Sans"/>
                <a:ea typeface="Fira Sans"/>
                <a:cs typeface="Fira Sans"/>
                <a:sym typeface="Fira Sans"/>
              </a:rPr>
              <a:t>pop into the chat: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8" name="Google Shape;208;g3322daea42f_0_10"/>
          <p:cNvSpPr txBox="1"/>
          <p:nvPr/>
        </p:nvSpPr>
        <p:spPr>
          <a:xfrm>
            <a:off x="1123900" y="1993825"/>
            <a:ext cx="1551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Your Name</a:t>
            </a:r>
            <a:endParaRPr b="1" i="0" sz="2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09" name="Google Shape;209;g3322daea42f_0_10"/>
          <p:cNvGrpSpPr/>
          <p:nvPr/>
        </p:nvGrpSpPr>
        <p:grpSpPr>
          <a:xfrm>
            <a:off x="2808225" y="1897675"/>
            <a:ext cx="1427268" cy="1426368"/>
            <a:chOff x="3145150" y="1332175"/>
            <a:chExt cx="1427268" cy="1426368"/>
          </a:xfrm>
        </p:grpSpPr>
        <p:sp>
          <p:nvSpPr>
            <p:cNvPr id="210" name="Google Shape;210;g3322daea42f_0_10"/>
            <p:cNvSpPr/>
            <p:nvPr/>
          </p:nvSpPr>
          <p:spPr>
            <a:xfrm>
              <a:off x="3145150" y="1332175"/>
              <a:ext cx="765000" cy="765000"/>
            </a:xfrm>
            <a:prstGeom prst="ellipse">
              <a:avLst/>
            </a:prstGeom>
            <a:solidFill>
              <a:srgbClr val="FBB83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25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💬</a:t>
              </a:r>
              <a:endParaRPr b="0" i="0" sz="25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211" name="Google Shape;211;g3322daea42f_0_10"/>
            <p:cNvCxnSpPr>
              <a:endCxn id="210" idx="5"/>
            </p:cNvCxnSpPr>
            <p:nvPr/>
          </p:nvCxnSpPr>
          <p:spPr>
            <a:xfrm rot="10800000">
              <a:off x="3798118" y="1985143"/>
              <a:ext cx="774300" cy="773400"/>
            </a:xfrm>
            <a:prstGeom prst="straightConnector1">
              <a:avLst/>
            </a:prstGeom>
            <a:noFill/>
            <a:ln cap="flat" cmpd="sng" w="19050">
              <a:solidFill>
                <a:srgbClr val="FBB83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2" name="Google Shape;212;g3322daea42f_0_10"/>
          <p:cNvGrpSpPr/>
          <p:nvPr/>
        </p:nvGrpSpPr>
        <p:grpSpPr>
          <a:xfrm>
            <a:off x="4235407" y="1897675"/>
            <a:ext cx="1424868" cy="1428768"/>
            <a:chOff x="4572332" y="1332175"/>
            <a:chExt cx="1424868" cy="1428768"/>
          </a:xfrm>
        </p:grpSpPr>
        <p:sp>
          <p:nvSpPr>
            <p:cNvPr id="213" name="Google Shape;213;g3322daea42f_0_10"/>
            <p:cNvSpPr/>
            <p:nvPr/>
          </p:nvSpPr>
          <p:spPr>
            <a:xfrm>
              <a:off x="5232200" y="1332175"/>
              <a:ext cx="765000" cy="765000"/>
            </a:xfrm>
            <a:prstGeom prst="ellipse">
              <a:avLst/>
            </a:prstGeom>
            <a:solidFill>
              <a:srgbClr val="FB8569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25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👷</a:t>
              </a:r>
              <a:endParaRPr b="0" i="0" sz="25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214" name="Google Shape;214;g3322daea42f_0_10"/>
            <p:cNvCxnSpPr>
              <a:endCxn id="213" idx="3"/>
            </p:cNvCxnSpPr>
            <p:nvPr/>
          </p:nvCxnSpPr>
          <p:spPr>
            <a:xfrm flipH="1" rot="10800000">
              <a:off x="4572332" y="1985143"/>
              <a:ext cx="771900" cy="775800"/>
            </a:xfrm>
            <a:prstGeom prst="straightConnector1">
              <a:avLst/>
            </a:prstGeom>
            <a:noFill/>
            <a:ln cap="flat" cmpd="sng" w="19050">
              <a:solidFill>
                <a:srgbClr val="FB856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5" name="Google Shape;215;g3322daea42f_0_10"/>
          <p:cNvGrpSpPr/>
          <p:nvPr/>
        </p:nvGrpSpPr>
        <p:grpSpPr>
          <a:xfrm>
            <a:off x="2808225" y="3169032"/>
            <a:ext cx="1429668" cy="1428768"/>
            <a:chOff x="3145150" y="2755932"/>
            <a:chExt cx="1429668" cy="1428768"/>
          </a:xfrm>
        </p:grpSpPr>
        <p:sp>
          <p:nvSpPr>
            <p:cNvPr id="216" name="Google Shape;216;g3322daea42f_0_10"/>
            <p:cNvSpPr/>
            <p:nvPr/>
          </p:nvSpPr>
          <p:spPr>
            <a:xfrm>
              <a:off x="3145150" y="3419700"/>
              <a:ext cx="765000" cy="765000"/>
            </a:xfrm>
            <a:prstGeom prst="ellipse">
              <a:avLst/>
            </a:prstGeom>
            <a:solidFill>
              <a:srgbClr val="E850E0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25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🏠</a:t>
              </a:r>
              <a:endParaRPr b="0" i="0" sz="32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217" name="Google Shape;217;g3322daea42f_0_10"/>
            <p:cNvCxnSpPr>
              <a:endCxn id="216" idx="7"/>
            </p:cNvCxnSpPr>
            <p:nvPr/>
          </p:nvCxnSpPr>
          <p:spPr>
            <a:xfrm flipH="1">
              <a:off x="3798118" y="2755932"/>
              <a:ext cx="776700" cy="775800"/>
            </a:xfrm>
            <a:prstGeom prst="straightConnector1">
              <a:avLst/>
            </a:prstGeom>
            <a:noFill/>
            <a:ln cap="flat" cmpd="sng" w="19050">
              <a:solidFill>
                <a:srgbClr val="E850E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18" name="Google Shape;218;g3322daea42f_0_10"/>
          <p:cNvGrpSpPr/>
          <p:nvPr/>
        </p:nvGrpSpPr>
        <p:grpSpPr>
          <a:xfrm>
            <a:off x="4237807" y="3174132"/>
            <a:ext cx="1422468" cy="1423668"/>
            <a:chOff x="4574732" y="2761032"/>
            <a:chExt cx="1422468" cy="1423668"/>
          </a:xfrm>
        </p:grpSpPr>
        <p:sp>
          <p:nvSpPr>
            <p:cNvPr id="219" name="Google Shape;219;g3322daea42f_0_10"/>
            <p:cNvSpPr/>
            <p:nvPr/>
          </p:nvSpPr>
          <p:spPr>
            <a:xfrm>
              <a:off x="5232200" y="3419700"/>
              <a:ext cx="765000" cy="765000"/>
            </a:xfrm>
            <a:prstGeom prst="ellipse">
              <a:avLst/>
            </a:prstGeom>
            <a:solidFill>
              <a:srgbClr val="FB569C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25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🏢</a:t>
              </a:r>
              <a:endParaRPr b="0" i="0" sz="25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220" name="Google Shape;220;g3322daea42f_0_10"/>
            <p:cNvCxnSpPr>
              <a:endCxn id="219" idx="1"/>
            </p:cNvCxnSpPr>
            <p:nvPr/>
          </p:nvCxnSpPr>
          <p:spPr>
            <a:xfrm>
              <a:off x="4574732" y="2761032"/>
              <a:ext cx="769500" cy="770700"/>
            </a:xfrm>
            <a:prstGeom prst="straightConnector1">
              <a:avLst/>
            </a:prstGeom>
            <a:noFill/>
            <a:ln cap="flat" cmpd="sng" w="19050">
              <a:solidFill>
                <a:srgbClr val="FB569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1" name="Google Shape;221;g3322daea42f_0_10"/>
          <p:cNvGrpSpPr/>
          <p:nvPr/>
        </p:nvGrpSpPr>
        <p:grpSpPr>
          <a:xfrm>
            <a:off x="3648650" y="2662138"/>
            <a:ext cx="1171200" cy="1171200"/>
            <a:chOff x="5587975" y="1952850"/>
            <a:chExt cx="1171200" cy="1171200"/>
          </a:xfrm>
        </p:grpSpPr>
        <p:sp>
          <p:nvSpPr>
            <p:cNvPr id="222" name="Google Shape;222;g3322daea42f_0_10"/>
            <p:cNvSpPr/>
            <p:nvPr/>
          </p:nvSpPr>
          <p:spPr>
            <a:xfrm>
              <a:off x="5587975" y="1952850"/>
              <a:ext cx="1171200" cy="11712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322daea42f_0_10"/>
            <p:cNvSpPr/>
            <p:nvPr/>
          </p:nvSpPr>
          <p:spPr>
            <a:xfrm>
              <a:off x="5673875" y="2038750"/>
              <a:ext cx="999300" cy="999300"/>
            </a:xfrm>
            <a:prstGeom prst="ellipse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4500" u="none" cap="none" strike="noStrike">
                  <a:solidFill>
                    <a:srgbClr val="000000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👤</a:t>
              </a:r>
              <a:endParaRPr b="0" i="0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g3322daea42f_0_10"/>
          <p:cNvSpPr txBox="1"/>
          <p:nvPr/>
        </p:nvSpPr>
        <p:spPr>
          <a:xfrm>
            <a:off x="5909400" y="1993825"/>
            <a:ext cx="193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Designation</a:t>
            </a:r>
            <a:endParaRPr b="1" i="0" sz="2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5" name="Google Shape;225;g3322daea42f_0_10"/>
          <p:cNvSpPr txBox="1"/>
          <p:nvPr/>
        </p:nvSpPr>
        <p:spPr>
          <a:xfrm>
            <a:off x="1123900" y="3928950"/>
            <a:ext cx="142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Location</a:t>
            </a:r>
            <a:endParaRPr b="1" i="0" sz="2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6" name="Google Shape;226;g3322daea42f_0_10"/>
          <p:cNvSpPr txBox="1"/>
          <p:nvPr/>
        </p:nvSpPr>
        <p:spPr>
          <a:xfrm>
            <a:off x="5842000" y="3928950"/>
            <a:ext cx="193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Company</a:t>
            </a:r>
            <a:endParaRPr b="1" i="0" sz="2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22daea42f_0_33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Success Hacks</a:t>
            </a:r>
            <a:endParaRPr/>
          </a:p>
        </p:txBody>
      </p:sp>
      <p:sp>
        <p:nvSpPr>
          <p:cNvPr id="232" name="Google Shape;232;g3322daea42f_0_33"/>
          <p:cNvSpPr txBox="1"/>
          <p:nvPr>
            <p:ph idx="2" type="body"/>
          </p:nvPr>
        </p:nvSpPr>
        <p:spPr>
          <a:xfrm>
            <a:off x="2471825" y="477750"/>
            <a:ext cx="64716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Be prepared for the class by watching the warm-up/pre-class videos shared if any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Attend every live class on </a:t>
            </a:r>
            <a:r>
              <a:rPr lang="en" sz="1600">
                <a:solidFill>
                  <a:srgbClr val="00FF00"/>
                </a:solidFill>
              </a:rPr>
              <a:t>Sunday</a:t>
            </a:r>
            <a:endParaRPr sz="1600">
              <a:solidFill>
                <a:srgbClr val="00FF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Participate in the </a:t>
            </a:r>
            <a:r>
              <a:rPr lang="en" sz="1600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class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 sz="1600">
                <a:solidFill>
                  <a:schemeClr val="accent1"/>
                </a:solidFill>
              </a:rPr>
              <a:t>Practice! Experiment! Become an Expert!!!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Keep your goal in mind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Consistency is the key</a:t>
            </a:r>
            <a:endParaRPr sz="16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800"/>
              <a:t>Be patient with yourself !</a:t>
            </a:r>
            <a:endParaRPr sz="2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322daea42f_0_38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IK Support Features</a:t>
            </a:r>
            <a:endParaRPr/>
          </a:p>
        </p:txBody>
      </p:sp>
      <p:sp>
        <p:nvSpPr>
          <p:cNvPr id="238" name="Google Shape;238;g3322daea42f_0_38"/>
          <p:cNvSpPr txBox="1"/>
          <p:nvPr>
            <p:ph idx="2" type="body"/>
          </p:nvPr>
        </p:nvSpPr>
        <p:spPr>
          <a:xfrm>
            <a:off x="2471825" y="871350"/>
            <a:ext cx="61932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Uplevel</a:t>
            </a:r>
            <a:r>
              <a:rPr lang="en" sz="1600">
                <a:solidFill>
                  <a:schemeClr val="lt1"/>
                </a:solidFill>
              </a:rPr>
              <a:t> - contains all the learning resources - videos, reading materials, project files</a:t>
            </a:r>
            <a:endParaRPr sz="1600">
              <a:solidFill>
                <a:srgbClr val="00FF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Discord</a:t>
            </a:r>
            <a:r>
              <a:rPr lang="en" sz="1600">
                <a:solidFill>
                  <a:schemeClr val="lt1"/>
                </a:solidFill>
              </a:rPr>
              <a:t> community for peer learning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TAs</a:t>
            </a:r>
            <a:r>
              <a:rPr lang="en" sz="1600">
                <a:solidFill>
                  <a:schemeClr val="lt1"/>
                </a:solidFill>
              </a:rPr>
              <a:t> to help answer the queries in the live class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Use </a:t>
            </a:r>
            <a:r>
              <a:rPr lang="en" sz="1600">
                <a:solidFill>
                  <a:srgbClr val="00FF00"/>
                </a:solidFill>
              </a:rPr>
              <a:t>academic support (SSAs) </a:t>
            </a:r>
            <a:r>
              <a:rPr lang="en" sz="1600">
                <a:solidFill>
                  <a:schemeClr val="lt1"/>
                </a:solidFill>
              </a:rPr>
              <a:t>for any support/advise you want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rgbClr val="00FF00"/>
                </a:solidFill>
              </a:rPr>
              <a:t>Support tickets</a:t>
            </a:r>
            <a:r>
              <a:rPr lang="en" sz="1600">
                <a:solidFill>
                  <a:schemeClr val="lt1"/>
                </a:solidFill>
              </a:rPr>
              <a:t> - Raise them any time you want any clarifications/ tech concerns , etc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22daea42f_0_43"/>
          <p:cNvSpPr txBox="1"/>
          <p:nvPr>
            <p:ph idx="1" type="subTitle"/>
          </p:nvPr>
        </p:nvSpPr>
        <p:spPr>
          <a:xfrm>
            <a:off x="238800" y="477750"/>
            <a:ext cx="1900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Today’s Agenda</a:t>
            </a:r>
            <a:endParaRPr/>
          </a:p>
        </p:txBody>
      </p:sp>
      <p:sp>
        <p:nvSpPr>
          <p:cNvPr id="244" name="Google Shape;244;g3322daea42f_0_43"/>
          <p:cNvSpPr txBox="1"/>
          <p:nvPr>
            <p:ph idx="2" type="body"/>
          </p:nvPr>
        </p:nvSpPr>
        <p:spPr>
          <a:xfrm>
            <a:off x="2471825" y="871350"/>
            <a:ext cx="61932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Recap &amp; Motivation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Prerequisites &amp; Problem Statement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Outcome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Dataset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Tools Used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Grading Rubrics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How the 8-weeks look like</a:t>
            </a:r>
            <a:endParaRPr sz="16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22daea42f_0_48"/>
          <p:cNvSpPr txBox="1"/>
          <p:nvPr>
            <p:ph idx="1" type="body"/>
          </p:nvPr>
        </p:nvSpPr>
        <p:spPr>
          <a:xfrm>
            <a:off x="457200" y="1137075"/>
            <a:ext cx="60132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400">
                <a:solidFill>
                  <a:srgbClr val="00FF00"/>
                </a:solidFill>
              </a:rPr>
              <a:t>4</a:t>
            </a:r>
            <a:r>
              <a:rPr lang="en"/>
              <a:t> weeks of </a:t>
            </a:r>
            <a:r>
              <a:rPr b="1" lang="en">
                <a:solidFill>
                  <a:srgbClr val="00FF00"/>
                </a:solidFill>
              </a:rPr>
              <a:t>Live-Guided</a:t>
            </a:r>
            <a:r>
              <a:rPr lang="en"/>
              <a:t> Foundation Project. </a:t>
            </a:r>
            <a:endParaRPr/>
          </a:p>
        </p:txBody>
      </p:sp>
      <p:sp>
        <p:nvSpPr>
          <p:cNvPr id="250" name="Google Shape;250;g3322daea42f_0_48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g3322daea42f_0_48"/>
          <p:cNvSpPr txBox="1"/>
          <p:nvPr>
            <p:ph type="title"/>
          </p:nvPr>
        </p:nvSpPr>
        <p:spPr>
          <a:xfrm>
            <a:off x="407575" y="220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What happened before?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252" name="Google Shape;252;g3322daea42f_0_48"/>
          <p:cNvSpPr txBox="1"/>
          <p:nvPr>
            <p:ph idx="1" type="body"/>
          </p:nvPr>
        </p:nvSpPr>
        <p:spPr>
          <a:xfrm>
            <a:off x="457200" y="3028950"/>
            <a:ext cx="50802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Instructor led the way, you followed!!!</a:t>
            </a:r>
            <a:endParaRPr/>
          </a:p>
        </p:txBody>
      </p:sp>
      <p:sp>
        <p:nvSpPr>
          <p:cNvPr id="253" name="Google Shape;253;g3322daea42f_0_48"/>
          <p:cNvSpPr txBox="1"/>
          <p:nvPr>
            <p:ph idx="1" type="body"/>
          </p:nvPr>
        </p:nvSpPr>
        <p:spPr>
          <a:xfrm>
            <a:off x="349400" y="2416625"/>
            <a:ext cx="84777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Laid the foundation for project building with emphasis on </a:t>
            </a:r>
            <a:r>
              <a:rPr b="1" lang="en">
                <a:solidFill>
                  <a:srgbClr val="00FF00"/>
                </a:solidFill>
              </a:rPr>
              <a:t>GenAI</a:t>
            </a:r>
            <a:endParaRPr b="1">
              <a:solidFill>
                <a:srgbClr val="00FF00"/>
              </a:solidFill>
            </a:endParaRPr>
          </a:p>
        </p:txBody>
      </p:sp>
      <p:pic>
        <p:nvPicPr>
          <p:cNvPr id="254" name="Google Shape;254;g3322daea42f_0_48"/>
          <p:cNvPicPr preferRelativeResize="0"/>
          <p:nvPr/>
        </p:nvPicPr>
        <p:blipFill rotWithShape="1">
          <a:blip r:embed="rId3">
            <a:alphaModFix/>
          </a:blip>
          <a:srcRect b="6670" l="12406" r="12406" t="6929"/>
          <a:stretch/>
        </p:blipFill>
        <p:spPr>
          <a:xfrm>
            <a:off x="5243775" y="867775"/>
            <a:ext cx="1530300" cy="1458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5" name="Google Shape;255;g3322daea42f_0_48"/>
          <p:cNvSpPr/>
          <p:nvPr/>
        </p:nvSpPr>
        <p:spPr>
          <a:xfrm>
            <a:off x="2355525" y="1833700"/>
            <a:ext cx="289200" cy="376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56" name="Google Shape;256;g3322daea42f_0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5250" y="2982675"/>
            <a:ext cx="2711100" cy="1626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322daea42f_0_59"/>
          <p:cNvSpPr txBox="1"/>
          <p:nvPr>
            <p:ph idx="1" type="body"/>
          </p:nvPr>
        </p:nvSpPr>
        <p:spPr>
          <a:xfrm>
            <a:off x="457200" y="1137075"/>
            <a:ext cx="60132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400">
                <a:solidFill>
                  <a:srgbClr val="00FF00"/>
                </a:solidFill>
              </a:rPr>
              <a:t>8</a:t>
            </a:r>
            <a:r>
              <a:rPr lang="en"/>
              <a:t> weeks of </a:t>
            </a:r>
            <a:r>
              <a:rPr b="1" lang="en">
                <a:solidFill>
                  <a:srgbClr val="00FF00"/>
                </a:solidFill>
              </a:rPr>
              <a:t>Self-Led</a:t>
            </a:r>
            <a:r>
              <a:rPr lang="en"/>
              <a:t> Breakthrough Project. </a:t>
            </a:r>
            <a:endParaRPr/>
          </a:p>
        </p:txBody>
      </p:sp>
      <p:sp>
        <p:nvSpPr>
          <p:cNvPr id="262" name="Google Shape;262;g3322daea42f_0_59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g3322daea42f_0_59"/>
          <p:cNvSpPr txBox="1"/>
          <p:nvPr>
            <p:ph type="title"/>
          </p:nvPr>
        </p:nvSpPr>
        <p:spPr>
          <a:xfrm>
            <a:off x="407575" y="220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What is going to happen now?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264" name="Google Shape;264;g3322daea42f_0_59"/>
          <p:cNvSpPr txBox="1"/>
          <p:nvPr>
            <p:ph idx="1" type="body"/>
          </p:nvPr>
        </p:nvSpPr>
        <p:spPr>
          <a:xfrm>
            <a:off x="501250" y="2571750"/>
            <a:ext cx="80268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You will be driving the project with some assistance from the instructor!!!</a:t>
            </a:r>
            <a:endParaRPr/>
          </a:p>
        </p:txBody>
      </p:sp>
      <p:sp>
        <p:nvSpPr>
          <p:cNvPr id="265" name="Google Shape;265;g3322daea42f_0_59"/>
          <p:cNvSpPr txBox="1"/>
          <p:nvPr>
            <p:ph idx="1" type="body"/>
          </p:nvPr>
        </p:nvSpPr>
        <p:spPr>
          <a:xfrm>
            <a:off x="501250" y="3147000"/>
            <a:ext cx="84777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Primarily driven through </a:t>
            </a:r>
            <a:r>
              <a:rPr b="1" lang="en" sz="2200">
                <a:solidFill>
                  <a:srgbClr val="00FF00"/>
                </a:solidFill>
              </a:rPr>
              <a:t> YOU!</a:t>
            </a:r>
            <a:endParaRPr b="1" sz="2200">
              <a:solidFill>
                <a:srgbClr val="00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66" name="Google Shape;266;g3322daea42f_0_59"/>
          <p:cNvSpPr/>
          <p:nvPr/>
        </p:nvSpPr>
        <p:spPr>
          <a:xfrm>
            <a:off x="2355525" y="1833700"/>
            <a:ext cx="289200" cy="376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67" name="Google Shape;267;g3322daea42f_0_59"/>
          <p:cNvPicPr preferRelativeResize="0"/>
          <p:nvPr/>
        </p:nvPicPr>
        <p:blipFill rotWithShape="1">
          <a:blip r:embed="rId3">
            <a:alphaModFix/>
          </a:blip>
          <a:srcRect b="7462" l="10515" r="9516" t="13065"/>
          <a:stretch/>
        </p:blipFill>
        <p:spPr>
          <a:xfrm>
            <a:off x="5138325" y="955875"/>
            <a:ext cx="1439400" cy="1430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8" name="Google Shape;268;g3322daea42f_0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273" y="3110650"/>
            <a:ext cx="2946600" cy="1669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322daea42f_0_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g3322daea42f_0_70"/>
          <p:cNvSpPr txBox="1"/>
          <p:nvPr>
            <p:ph type="title"/>
          </p:nvPr>
        </p:nvSpPr>
        <p:spPr>
          <a:xfrm>
            <a:off x="457200" y="1136400"/>
            <a:ext cx="78867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Don’t worry! 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We are here to help at your every step !</a:t>
            </a:r>
            <a:endParaRPr b="1">
              <a:solidFill>
                <a:srgbClr val="FFAB4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FFAB40"/>
                </a:solidFill>
              </a:rPr>
              <a:t>But, how???</a:t>
            </a:r>
            <a:endParaRPr b="1" sz="3200">
              <a:solidFill>
                <a:srgbClr val="FFAB40"/>
              </a:solidFill>
            </a:endParaRPr>
          </a:p>
        </p:txBody>
      </p:sp>
      <p:pic>
        <p:nvPicPr>
          <p:cNvPr id="275" name="Google Shape;275;g3322daea42f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3300" y="2115775"/>
            <a:ext cx="2492100" cy="2492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322daea42f_0_76"/>
          <p:cNvSpPr txBox="1"/>
          <p:nvPr>
            <p:ph type="title"/>
          </p:nvPr>
        </p:nvSpPr>
        <p:spPr>
          <a:xfrm>
            <a:off x="311700" y="289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Ik’s support for you!</a:t>
            </a:r>
            <a:endParaRPr/>
          </a:p>
        </p:txBody>
      </p:sp>
      <p:sp>
        <p:nvSpPr>
          <p:cNvPr id="281" name="Google Shape;281;g3322daea42f_0_76"/>
          <p:cNvSpPr txBox="1"/>
          <p:nvPr>
            <p:ph idx="1" type="body"/>
          </p:nvPr>
        </p:nvSpPr>
        <p:spPr>
          <a:xfrm>
            <a:off x="311700" y="1184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We have designed adequate instructional and technical support for you in the form of: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 sz="1400">
                <a:solidFill>
                  <a:schemeClr val="accent4"/>
                </a:solidFill>
              </a:rPr>
              <a:t>Weekend Live Sessions: </a:t>
            </a:r>
            <a:r>
              <a:rPr lang="en" sz="1400">
                <a:solidFill>
                  <a:schemeClr val="lt1"/>
                </a:solidFill>
              </a:rPr>
              <a:t> Get a picture of your weekly milestones, and get guidance on how to attempt those. Also discuss past progress and get feedback from your instructor and fellow peers. </a:t>
            </a:r>
            <a:r>
              <a:rPr b="1" lang="en" sz="1400">
                <a:solidFill>
                  <a:schemeClr val="lt1"/>
                </a:solidFill>
              </a:rPr>
              <a:t>This is scheduled for </a:t>
            </a:r>
            <a:r>
              <a:rPr b="1" lang="en" sz="1400">
                <a:solidFill>
                  <a:srgbClr val="00FF00"/>
                </a:solidFill>
              </a:rPr>
              <a:t>every week for the next 8 weeks</a:t>
            </a:r>
            <a:endParaRPr b="1" sz="1400">
              <a:solidFill>
                <a:srgbClr val="00FF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 sz="1400">
                <a:solidFill>
                  <a:schemeClr val="accent4"/>
                </a:solidFill>
              </a:rPr>
              <a:t>1:1 Connects with Project Mentors: </a:t>
            </a:r>
            <a:r>
              <a:rPr lang="en" sz="1400">
                <a:solidFill>
                  <a:schemeClr val="lt1"/>
                </a:solidFill>
              </a:rPr>
              <a:t>For each project, we have assigned dedicated project mentors to help you with project domain specific queries. To access 1:1 connects, raise a ticket on Uplevel. </a:t>
            </a:r>
            <a:r>
              <a:rPr b="1" lang="en" sz="1400">
                <a:solidFill>
                  <a:schemeClr val="lt1"/>
                </a:solidFill>
              </a:rPr>
              <a:t>You can avail </a:t>
            </a:r>
            <a:r>
              <a:rPr b="1" lang="en" sz="1400">
                <a:solidFill>
                  <a:srgbClr val="00FF00"/>
                </a:solidFill>
              </a:rPr>
              <a:t>upto 5 1:1 connects in the next 8 weeks.</a:t>
            </a:r>
            <a:r>
              <a:rPr b="1" lang="en" sz="1400">
                <a:solidFill>
                  <a:schemeClr val="lt1"/>
                </a:solidFill>
              </a:rPr>
              <a:t> </a:t>
            </a:r>
            <a:endParaRPr b="1" sz="14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 sz="1400">
                <a:solidFill>
                  <a:schemeClr val="accent4"/>
                </a:solidFill>
              </a:rPr>
              <a:t>Technical Coaching Sessions (1:n) :</a:t>
            </a:r>
            <a:r>
              <a:rPr lang="en" sz="1400">
                <a:solidFill>
                  <a:schemeClr val="lt1"/>
                </a:solidFill>
              </a:rPr>
              <a:t> In this session, you’ll be getting your technical doubts resolved form the instructor. They are available </a:t>
            </a:r>
            <a:r>
              <a:rPr b="1" lang="en" sz="1400">
                <a:solidFill>
                  <a:srgbClr val="00FF00"/>
                </a:solidFill>
              </a:rPr>
              <a:t>once every 2 weeks (2nd, 4th, 6th and 7th week)</a:t>
            </a:r>
            <a:endParaRPr b="1" sz="1400">
              <a:solidFill>
                <a:srgbClr val="00FF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282" name="Google Shape;282;g3322daea42f_0_76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22fef98c4_0_0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g3322fef98c4_0_0"/>
          <p:cNvSpPr txBox="1"/>
          <p:nvPr>
            <p:ph type="title"/>
          </p:nvPr>
        </p:nvSpPr>
        <p:spPr>
          <a:xfrm>
            <a:off x="311700" y="204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Structure of sessions for the next 8 weeks! </a:t>
            </a:r>
            <a:endParaRPr b="1"/>
          </a:p>
        </p:txBody>
      </p:sp>
      <p:graphicFrame>
        <p:nvGraphicFramePr>
          <p:cNvPr id="289" name="Google Shape;289;g3322fef98c4_0_0"/>
          <p:cNvGraphicFramePr/>
          <p:nvPr/>
        </p:nvGraphicFramePr>
        <p:xfrm>
          <a:off x="612575" y="100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{92CDC9F0-015F-415C-AEFB-390CB38244B4}</a:tableStyleId>
              </a:tblPr>
              <a:tblGrid>
                <a:gridCol w="1990750"/>
                <a:gridCol w="1582000"/>
                <a:gridCol w="1786375"/>
                <a:gridCol w="1786375"/>
              </a:tblGrid>
              <a:tr h="35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Week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(Today → Week -1 )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Sunday Live Sessions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Coaching Sessions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   1&lt;&gt;1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 Sessions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</a:tr>
              <a:tr h="3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Week - 1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✅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Week - 2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✅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Week - 3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✅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Week - 4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✅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Week - 5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✅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Week - 6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✅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Week - 7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✅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Week - 8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✅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g3322fef98c4_0_0"/>
          <p:cNvSpPr/>
          <p:nvPr/>
        </p:nvSpPr>
        <p:spPr>
          <a:xfrm>
            <a:off x="5971700" y="1610925"/>
            <a:ext cx="1786500" cy="3169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You can avail 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B5394"/>
                </a:solidFill>
                <a:latin typeface="Fira Sans"/>
                <a:ea typeface="Fira Sans"/>
                <a:cs typeface="Fira Sans"/>
                <a:sym typeface="Fira Sans"/>
              </a:rPr>
              <a:t>upto 5 sessions</a:t>
            </a:r>
            <a:r>
              <a:rPr lang="en"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in these 8 weeks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  <a:latin typeface="Fira Sans"/>
                <a:ea typeface="Fira Sans"/>
                <a:cs typeface="Fira Sans"/>
                <a:sym typeface="Fira Sans"/>
              </a:rPr>
              <a:t>PRO TIP:</a:t>
            </a:r>
            <a:endParaRPr b="1">
              <a:solidFill>
                <a:srgbClr val="38761D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Availing it in the 2nd or 3rd week gives you a good start!!!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1" name="Google Shape;291;g3322fef98c4_0_0"/>
          <p:cNvSpPr/>
          <p:nvPr/>
        </p:nvSpPr>
        <p:spPr>
          <a:xfrm>
            <a:off x="438100" y="884875"/>
            <a:ext cx="7442700" cy="39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22daea42f_0_9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g3322daea42f_0_90"/>
          <p:cNvSpPr txBox="1"/>
          <p:nvPr>
            <p:ph type="title"/>
          </p:nvPr>
        </p:nvSpPr>
        <p:spPr>
          <a:xfrm>
            <a:off x="457200" y="1136400"/>
            <a:ext cx="78867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Is this all??????</a:t>
            </a:r>
            <a:endParaRPr b="1">
              <a:solidFill>
                <a:srgbClr val="FFAB4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FFAB40"/>
                </a:solidFill>
              </a:rPr>
              <a:t>Wait!!!! There’s more……… </a:t>
            </a:r>
            <a:endParaRPr b="1" sz="3200">
              <a:solidFill>
                <a:srgbClr val="FFAB40"/>
              </a:solidFill>
            </a:endParaRPr>
          </a:p>
        </p:txBody>
      </p:sp>
      <p:pic>
        <p:nvPicPr>
          <p:cNvPr id="298" name="Google Shape;298;g3322daea42f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0425" y="2571750"/>
            <a:ext cx="1960250" cy="19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322daea42f_0_96"/>
          <p:cNvSpPr txBox="1"/>
          <p:nvPr>
            <p:ph type="title"/>
          </p:nvPr>
        </p:nvSpPr>
        <p:spPr>
          <a:xfrm>
            <a:off x="311700" y="280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Ik’s support extends beyond instructional support…</a:t>
            </a:r>
            <a:endParaRPr/>
          </a:p>
        </p:txBody>
      </p:sp>
      <p:sp>
        <p:nvSpPr>
          <p:cNvPr id="304" name="Google Shape;304;g3322daea42f_0_96"/>
          <p:cNvSpPr txBox="1"/>
          <p:nvPr>
            <p:ph idx="1" type="body"/>
          </p:nvPr>
        </p:nvSpPr>
        <p:spPr>
          <a:xfrm>
            <a:off x="311700" y="1184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FF00"/>
                </a:solidFill>
              </a:rPr>
              <a:t>What more????</a:t>
            </a:r>
            <a:endParaRPr b="1">
              <a:solidFill>
                <a:srgbClr val="00FF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Instructions to plan your </a:t>
            </a:r>
            <a:r>
              <a:rPr b="1" lang="en" sz="1400">
                <a:solidFill>
                  <a:schemeClr val="accent4"/>
                </a:solidFill>
              </a:rPr>
              <a:t>project milestones</a:t>
            </a:r>
            <a:endParaRPr b="1" sz="1400">
              <a:solidFill>
                <a:schemeClr val="accent4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 sz="1400">
                <a:solidFill>
                  <a:schemeClr val="accent4"/>
                </a:solidFill>
              </a:rPr>
              <a:t>Coding</a:t>
            </a:r>
            <a:r>
              <a:rPr lang="en" sz="1400">
                <a:solidFill>
                  <a:schemeClr val="lt1"/>
                </a:solidFill>
              </a:rPr>
              <a:t> </a:t>
            </a:r>
            <a:r>
              <a:rPr b="1" lang="en" sz="1400">
                <a:solidFill>
                  <a:schemeClr val="accent4"/>
                </a:solidFill>
              </a:rPr>
              <a:t>notebook templates</a:t>
            </a:r>
            <a:r>
              <a:rPr lang="en" sz="1400">
                <a:solidFill>
                  <a:schemeClr val="lt1"/>
                </a:solidFill>
              </a:rPr>
              <a:t> for an easy start for every milestone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 sz="1400">
                <a:solidFill>
                  <a:schemeClr val="accent4"/>
                </a:solidFill>
              </a:rPr>
              <a:t>Additional resources</a:t>
            </a:r>
            <a:r>
              <a:rPr lang="en" sz="1400">
                <a:solidFill>
                  <a:schemeClr val="lt1"/>
                </a:solidFill>
              </a:rPr>
              <a:t> if you get stuck somewhere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 sz="1400">
                <a:solidFill>
                  <a:schemeClr val="accent4"/>
                </a:solidFill>
              </a:rPr>
              <a:t>Milestone completion checklist</a:t>
            </a:r>
            <a:r>
              <a:rPr lang="en" sz="1400">
                <a:solidFill>
                  <a:schemeClr val="lt1"/>
                </a:solidFill>
              </a:rPr>
              <a:t> (every 2 weeks) to track your progress and know your challenges.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 sz="1400">
                <a:solidFill>
                  <a:schemeClr val="accent4"/>
                </a:solidFill>
              </a:rPr>
              <a:t>AWS credits</a:t>
            </a:r>
            <a:r>
              <a:rPr lang="en" sz="1400">
                <a:solidFill>
                  <a:schemeClr val="lt1"/>
                </a:solidFill>
              </a:rPr>
              <a:t> for deployment support.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And much </a:t>
            </a:r>
            <a:r>
              <a:rPr b="1" lang="en" sz="1400">
                <a:solidFill>
                  <a:schemeClr val="accent4"/>
                </a:solidFill>
              </a:rPr>
              <a:t>more…</a:t>
            </a:r>
            <a:endParaRPr b="1" sz="14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305" name="Google Shape;305;g3322daea42f_0_96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322daea42f_0_10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g3322daea42f_0_102"/>
          <p:cNvSpPr txBox="1"/>
          <p:nvPr>
            <p:ph type="title"/>
          </p:nvPr>
        </p:nvSpPr>
        <p:spPr>
          <a:xfrm>
            <a:off x="577625" y="1647350"/>
            <a:ext cx="78867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How will the Gen AI Project help in the </a:t>
            </a:r>
            <a:endParaRPr b="1">
              <a:solidFill>
                <a:srgbClr val="FFAB40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FFAB40"/>
                </a:solidFill>
              </a:rPr>
              <a:t>Career Growth</a:t>
            </a:r>
            <a:endParaRPr b="1" sz="3200">
              <a:solidFill>
                <a:srgbClr val="FFAB4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322daea42f_0_10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g3322daea42f_0_107"/>
          <p:cNvSpPr txBox="1"/>
          <p:nvPr>
            <p:ph type="title"/>
          </p:nvPr>
        </p:nvSpPr>
        <p:spPr>
          <a:xfrm>
            <a:off x="407575" y="220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Need of the hour!!!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318" name="Google Shape;318;g3322daea42f_0_107"/>
          <p:cNvSpPr txBox="1"/>
          <p:nvPr/>
        </p:nvSpPr>
        <p:spPr>
          <a:xfrm>
            <a:off x="1653100" y="1473575"/>
            <a:ext cx="22869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Cutting Edge technology called Agentic AI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19" name="Google Shape;319;g3322daea42f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076" y="1036446"/>
            <a:ext cx="1393475" cy="13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322daea42f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5727" y="1189473"/>
            <a:ext cx="1163924" cy="116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322daea42f_0_107"/>
          <p:cNvSpPr txBox="1"/>
          <p:nvPr/>
        </p:nvSpPr>
        <p:spPr>
          <a:xfrm>
            <a:off x="5928800" y="1418650"/>
            <a:ext cx="22869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Industry-Relevant Skills for High-Demand Roles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22" name="Google Shape;322;g3322daea42f_0_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801" y="3255375"/>
            <a:ext cx="1340000" cy="13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322daea42f_0_107"/>
          <p:cNvSpPr txBox="1"/>
          <p:nvPr/>
        </p:nvSpPr>
        <p:spPr>
          <a:xfrm>
            <a:off x="1780000" y="3572575"/>
            <a:ext cx="22869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Building Scalable &amp; Autonomous AI Solutions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24" name="Google Shape;324;g3322daea42f_0_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5721" y="3138845"/>
            <a:ext cx="1340000" cy="13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322daea42f_0_107"/>
          <p:cNvSpPr txBox="1"/>
          <p:nvPr/>
        </p:nvSpPr>
        <p:spPr>
          <a:xfrm>
            <a:off x="6007375" y="3492425"/>
            <a:ext cx="29061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Adequate project building skills for the breakthrough project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322daea42f_0_120"/>
          <p:cNvSpPr txBox="1"/>
          <p:nvPr>
            <p:ph type="title"/>
          </p:nvPr>
        </p:nvSpPr>
        <p:spPr>
          <a:xfrm>
            <a:off x="577625" y="288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Check - Points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331" name="Google Shape;331;g3322daea42f_0_1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g3322daea42f_0_120"/>
          <p:cNvSpPr txBox="1"/>
          <p:nvPr/>
        </p:nvSpPr>
        <p:spPr>
          <a:xfrm>
            <a:off x="4594675" y="1078600"/>
            <a:ext cx="43104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Project Progress Review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Dataset Preparation &amp; Validation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</a:t>
            </a: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Agents Implementation Check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Interim Documentation Review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33" name="Google Shape;333;g3322daea42f_0_120"/>
          <p:cNvGrpSpPr/>
          <p:nvPr/>
        </p:nvGrpSpPr>
        <p:grpSpPr>
          <a:xfrm>
            <a:off x="403383" y="1112919"/>
            <a:ext cx="4130263" cy="1164099"/>
            <a:chOff x="2248350" y="1243925"/>
            <a:chExt cx="3885477" cy="996575"/>
          </a:xfrm>
        </p:grpSpPr>
        <p:sp>
          <p:nvSpPr>
            <p:cNvPr id="334" name="Google Shape;334;g3322daea42f_0_120"/>
            <p:cNvSpPr/>
            <p:nvPr/>
          </p:nvSpPr>
          <p:spPr>
            <a:xfrm>
              <a:off x="2248362" y="1243925"/>
              <a:ext cx="3885465" cy="736700"/>
            </a:xfrm>
            <a:custGeom>
              <a:rect b="b" l="l" r="r" t="t"/>
              <a:pathLst>
                <a:path extrusionOk="0" h="29468" w="140816">
                  <a:moveTo>
                    <a:pt x="8514" y="0"/>
                  </a:moveTo>
                  <a:lnTo>
                    <a:pt x="1" y="14740"/>
                  </a:lnTo>
                  <a:lnTo>
                    <a:pt x="8514" y="29468"/>
                  </a:lnTo>
                  <a:lnTo>
                    <a:pt x="132303" y="29468"/>
                  </a:lnTo>
                  <a:lnTo>
                    <a:pt x="140816" y="14740"/>
                  </a:lnTo>
                  <a:lnTo>
                    <a:pt x="132303" y="0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3322daea42f_0_120"/>
            <p:cNvSpPr/>
            <p:nvPr/>
          </p:nvSpPr>
          <p:spPr>
            <a:xfrm>
              <a:off x="3078275" y="1557063"/>
              <a:ext cx="44675" cy="204800"/>
            </a:xfrm>
            <a:custGeom>
              <a:rect b="b" l="l" r="r" t="t"/>
              <a:pathLst>
                <a:path extrusionOk="0" h="8192" w="1787">
                  <a:moveTo>
                    <a:pt x="0" y="0"/>
                  </a:moveTo>
                  <a:lnTo>
                    <a:pt x="0" y="8192"/>
                  </a:lnTo>
                  <a:lnTo>
                    <a:pt x="1786" y="819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322daea42f_0_120"/>
            <p:cNvSpPr/>
            <p:nvPr/>
          </p:nvSpPr>
          <p:spPr>
            <a:xfrm>
              <a:off x="3018750" y="1594263"/>
              <a:ext cx="44650" cy="167600"/>
            </a:xfrm>
            <a:custGeom>
              <a:rect b="b" l="l" r="r" t="t"/>
              <a:pathLst>
                <a:path extrusionOk="0" h="6704" w="1786">
                  <a:moveTo>
                    <a:pt x="0" y="1"/>
                  </a:moveTo>
                  <a:lnTo>
                    <a:pt x="0" y="6704"/>
                  </a:lnTo>
                  <a:lnTo>
                    <a:pt x="1786" y="6704"/>
                  </a:lnTo>
                  <a:lnTo>
                    <a:pt x="1786" y="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322daea42f_0_120"/>
            <p:cNvSpPr/>
            <p:nvPr/>
          </p:nvSpPr>
          <p:spPr>
            <a:xfrm>
              <a:off x="2963075" y="1631488"/>
              <a:ext cx="44675" cy="130375"/>
            </a:xfrm>
            <a:custGeom>
              <a:rect b="b" l="l" r="r" t="t"/>
              <a:pathLst>
                <a:path extrusionOk="0" h="5215" w="1787">
                  <a:moveTo>
                    <a:pt x="1" y="0"/>
                  </a:moveTo>
                  <a:lnTo>
                    <a:pt x="1" y="5215"/>
                  </a:lnTo>
                  <a:lnTo>
                    <a:pt x="1787" y="5215"/>
                  </a:lnTo>
                  <a:lnTo>
                    <a:pt x="1787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3322daea42f_0_120"/>
            <p:cNvSpPr/>
            <p:nvPr/>
          </p:nvSpPr>
          <p:spPr>
            <a:xfrm>
              <a:off x="2903550" y="1672563"/>
              <a:ext cx="44675" cy="89300"/>
            </a:xfrm>
            <a:custGeom>
              <a:rect b="b" l="l" r="r" t="t"/>
              <a:pathLst>
                <a:path extrusionOk="0" h="3572" w="1787">
                  <a:moveTo>
                    <a:pt x="0" y="0"/>
                  </a:moveTo>
                  <a:lnTo>
                    <a:pt x="0" y="3572"/>
                  </a:lnTo>
                  <a:lnTo>
                    <a:pt x="1786" y="357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3322daea42f_0_120"/>
            <p:cNvSpPr/>
            <p:nvPr/>
          </p:nvSpPr>
          <p:spPr>
            <a:xfrm>
              <a:off x="2248350" y="1243925"/>
              <a:ext cx="882275" cy="996575"/>
            </a:xfrm>
            <a:custGeom>
              <a:rect b="b" l="l" r="r" t="t"/>
              <a:pathLst>
                <a:path extrusionOk="0" h="39863" w="35291">
                  <a:moveTo>
                    <a:pt x="1" y="0"/>
                  </a:moveTo>
                  <a:lnTo>
                    <a:pt x="1" y="29468"/>
                  </a:lnTo>
                  <a:lnTo>
                    <a:pt x="17646" y="39862"/>
                  </a:lnTo>
                  <a:lnTo>
                    <a:pt x="35291" y="29468"/>
                  </a:lnTo>
                  <a:lnTo>
                    <a:pt x="35291" y="0"/>
                  </a:lnTo>
                  <a:close/>
                </a:path>
              </a:pathLst>
            </a:custGeom>
            <a:solidFill>
              <a:srgbClr val="9ED1FD"/>
            </a:solidFill>
            <a:ln>
              <a:noFill/>
            </a:ln>
          </p:spPr>
          <p:txBody>
            <a:bodyPr anchorCtr="0" anchor="ctr" bIns="2743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" sz="2900" u="none" cap="none" strike="noStrike">
                  <a:solidFill>
                    <a:srgbClr val="66666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b="0" i="0" sz="2900" u="none" cap="none" strike="noStrike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40" name="Google Shape;340;g3322daea42f_0_120"/>
            <p:cNvSpPr/>
            <p:nvPr/>
          </p:nvSpPr>
          <p:spPr>
            <a:xfrm>
              <a:off x="3137822" y="1457875"/>
              <a:ext cx="2858400" cy="2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1st -Week 5th</a:t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1" name="Google Shape;341;g3322daea42f_0_120"/>
          <p:cNvGrpSpPr/>
          <p:nvPr/>
        </p:nvGrpSpPr>
        <p:grpSpPr>
          <a:xfrm>
            <a:off x="327183" y="3343653"/>
            <a:ext cx="4130263" cy="1164099"/>
            <a:chOff x="2248350" y="3610275"/>
            <a:chExt cx="3885477" cy="996575"/>
          </a:xfrm>
        </p:grpSpPr>
        <p:sp>
          <p:nvSpPr>
            <p:cNvPr id="342" name="Google Shape;342;g3322daea42f_0_120"/>
            <p:cNvSpPr/>
            <p:nvPr/>
          </p:nvSpPr>
          <p:spPr>
            <a:xfrm>
              <a:off x="2248362" y="3610275"/>
              <a:ext cx="3885465" cy="736725"/>
            </a:xfrm>
            <a:custGeom>
              <a:rect b="b" l="l" r="r" t="t"/>
              <a:pathLst>
                <a:path extrusionOk="0" h="29469" w="140816">
                  <a:moveTo>
                    <a:pt x="8514" y="1"/>
                  </a:moveTo>
                  <a:lnTo>
                    <a:pt x="1" y="14729"/>
                  </a:lnTo>
                  <a:lnTo>
                    <a:pt x="8514" y="29468"/>
                  </a:lnTo>
                  <a:lnTo>
                    <a:pt x="132303" y="29468"/>
                  </a:lnTo>
                  <a:lnTo>
                    <a:pt x="140816" y="14729"/>
                  </a:lnTo>
                  <a:lnTo>
                    <a:pt x="132303" y="1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g3322daea42f_0_120"/>
            <p:cNvSpPr/>
            <p:nvPr/>
          </p:nvSpPr>
          <p:spPr>
            <a:xfrm>
              <a:off x="2248350" y="3610275"/>
              <a:ext cx="882275" cy="996575"/>
            </a:xfrm>
            <a:custGeom>
              <a:rect b="b" l="l" r="r" t="t"/>
              <a:pathLst>
                <a:path extrusionOk="0" h="39863" w="35291">
                  <a:moveTo>
                    <a:pt x="0" y="1"/>
                  </a:moveTo>
                  <a:lnTo>
                    <a:pt x="0" y="29468"/>
                  </a:lnTo>
                  <a:lnTo>
                    <a:pt x="17645" y="39863"/>
                  </a:lnTo>
                  <a:lnTo>
                    <a:pt x="35291" y="29468"/>
                  </a:lnTo>
                  <a:lnTo>
                    <a:pt x="35291" y="1"/>
                  </a:ln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anchorCtr="0" anchor="ctr" bIns="2743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" sz="2900" u="none" cap="none" strike="noStrike">
                  <a:solidFill>
                    <a:srgbClr val="66666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b="0" i="0" sz="2900" u="none" cap="none" strike="noStrike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44" name="Google Shape;344;g3322daea42f_0_120"/>
            <p:cNvSpPr/>
            <p:nvPr/>
          </p:nvSpPr>
          <p:spPr>
            <a:xfrm>
              <a:off x="3301048" y="3847950"/>
              <a:ext cx="2541900" cy="2712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6th -Week 8th</a:t>
              </a:r>
              <a:endParaRPr b="0" i="0" sz="17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345" name="Google Shape;345;g3322daea42f_0_120"/>
          <p:cNvSpPr txBox="1"/>
          <p:nvPr/>
        </p:nvSpPr>
        <p:spPr>
          <a:xfrm>
            <a:off x="4670875" y="3288400"/>
            <a:ext cx="43104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Crew AI Orchestration Setup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</a:t>
            </a: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API &amp; Backend Setup – FastAPI implementation review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Final Deployment and UI SetUp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Final Review and Presentation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322daea42f_0_139"/>
          <p:cNvSpPr txBox="1"/>
          <p:nvPr>
            <p:ph type="title"/>
          </p:nvPr>
        </p:nvSpPr>
        <p:spPr>
          <a:xfrm>
            <a:off x="577625" y="2120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Outcome of Week - 1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351" name="Google Shape;351;g3322daea42f_0_1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g3322daea42f_0_139"/>
          <p:cNvSpPr txBox="1"/>
          <p:nvPr>
            <p:ph idx="4294967295" type="body"/>
          </p:nvPr>
        </p:nvSpPr>
        <p:spPr>
          <a:xfrm>
            <a:off x="311700" y="1152475"/>
            <a:ext cx="85206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❖"/>
            </a:pPr>
            <a:r>
              <a:rPr lang="en">
                <a:solidFill>
                  <a:schemeClr val="accent1"/>
                </a:solidFill>
              </a:rPr>
              <a:t>Prepare a mind map</a:t>
            </a:r>
            <a:endParaRPr>
              <a:solidFill>
                <a:schemeClr val="accent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➢"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Know that this is a self - lead project</a:t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➢"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Prepare a document where you note down the next steps,</a:t>
            </a:r>
            <a:b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tools which you will use and the process you will </a:t>
            </a:r>
            <a:b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follow to make your successive sessions successful. </a:t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➢"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Utilise the 1&lt;&gt;1 connect by raising the ticket in week - 1</a:t>
            </a:r>
            <a:b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get your doubts resolved by content expert.  </a:t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ind map 1080P, 2K, 4K, 5K HD wallpapers free download | Wallpaper ..." id="353" name="Google Shape;353;g3322daea42f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5725" y="1371700"/>
            <a:ext cx="3186574" cy="304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322daea42f_0_146"/>
          <p:cNvSpPr txBox="1"/>
          <p:nvPr>
            <p:ph type="title"/>
          </p:nvPr>
        </p:nvSpPr>
        <p:spPr>
          <a:xfrm>
            <a:off x="662675" y="1163975"/>
            <a:ext cx="7886700" cy="21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Let’s understand the problem statement that lies in front of us in detail.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FFAB40"/>
                </a:solidFill>
              </a:rPr>
              <a:t>…. To be solved in 8 weeks</a:t>
            </a:r>
            <a:endParaRPr b="1">
              <a:solidFill>
                <a:srgbClr val="FFAB40"/>
              </a:solidFill>
            </a:endParaRPr>
          </a:p>
        </p:txBody>
      </p:sp>
      <p:sp>
        <p:nvSpPr>
          <p:cNvPr id="359" name="Google Shape;359;g3322daea42f_0_1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1f5041ea0_0_864"/>
          <p:cNvSpPr txBox="1"/>
          <p:nvPr>
            <p:ph type="title"/>
          </p:nvPr>
        </p:nvSpPr>
        <p:spPr>
          <a:xfrm>
            <a:off x="577625" y="1358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Prerequisites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365" name="Google Shape;365;g331f5041ea0_0_8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31f5041ea0_0_864"/>
          <p:cNvSpPr txBox="1"/>
          <p:nvPr/>
        </p:nvSpPr>
        <p:spPr>
          <a:xfrm>
            <a:off x="311700" y="1076275"/>
            <a:ext cx="85206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000"/>
              <a:buFont typeface="Fira Sans"/>
              <a:buChar char="❖"/>
            </a:pPr>
            <a:r>
              <a:rPr b="1" i="0" lang="en" sz="2000" u="none" cap="none" strike="noStrike">
                <a:solidFill>
                  <a:srgbClr val="FFAB40"/>
                </a:solidFill>
                <a:latin typeface="Fira Sans"/>
                <a:ea typeface="Fira Sans"/>
                <a:cs typeface="Fira Sans"/>
                <a:sym typeface="Fira Sans"/>
              </a:rPr>
              <a:t>Technical Skills Required:</a:t>
            </a:r>
            <a:endParaRPr b="1" i="0" sz="2000" u="none" cap="none" strike="noStrike">
              <a:solidFill>
                <a:srgbClr val="FFAB4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➢"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Must-Know: 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"/>
              <a:buChar char="■"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Python, </a:t>
            </a: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SQL &amp; Databases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"/>
              <a:buChar char="■"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Basics of LLMs such as Prompt engineering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"/>
              <a:buChar char="➢"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Good-to-Know: 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"/>
              <a:buChar char="■"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LangChain or Similar Frameworks 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"/>
              <a:buChar char="■"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Vector Databases 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Fira Sans"/>
              <a:buChar char="■"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Deployment, GenAI Ecosystem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ree Images : technician, chip, programmer, micro, processor ..." id="367" name="Google Shape;367;g331f5041ea0_0_8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9203" y="1561238"/>
            <a:ext cx="3023401" cy="202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31f5041ea0_0_871"/>
          <p:cNvSpPr txBox="1"/>
          <p:nvPr>
            <p:ph type="title"/>
          </p:nvPr>
        </p:nvSpPr>
        <p:spPr>
          <a:xfrm>
            <a:off x="577625" y="2120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Problem Statement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373" name="Google Shape;373;g331f5041ea0_0_8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31f5041ea0_0_871"/>
          <p:cNvSpPr txBox="1"/>
          <p:nvPr/>
        </p:nvSpPr>
        <p:spPr>
          <a:xfrm>
            <a:off x="185925" y="901000"/>
            <a:ext cx="4645500" cy="3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Accessing personalized and efficient shopping experiences remains a challenge for many e-commerce platforms.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Traditional AI assistants provide generic recommendations and lack real-time, context-aware assistance for buyers.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Let’s build SmartShop AI, an intelligent, Multi-Agent e-commerce assistant leveraging LLMs, Pydantic AI to provide personalized shopping insights, real-time price comparisons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75" name="Google Shape;375;g331f5041ea0_0_8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9875" y="1396225"/>
            <a:ext cx="3606850" cy="2699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31f5041ea0_0_878"/>
          <p:cNvSpPr txBox="1"/>
          <p:nvPr>
            <p:ph type="title"/>
          </p:nvPr>
        </p:nvSpPr>
        <p:spPr>
          <a:xfrm>
            <a:off x="577625" y="288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Project Features 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381" name="Google Shape;381;g331f5041ea0_0_8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g331f5041ea0_0_878"/>
          <p:cNvPicPr preferRelativeResize="0"/>
          <p:nvPr/>
        </p:nvPicPr>
        <p:blipFill rotWithShape="1">
          <a:blip r:embed="rId3">
            <a:alphaModFix/>
          </a:blip>
          <a:srcRect b="0" l="42356" r="0" t="0"/>
          <a:stretch/>
        </p:blipFill>
        <p:spPr>
          <a:xfrm>
            <a:off x="5320625" y="1248288"/>
            <a:ext cx="3678900" cy="31463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31f5041ea0_0_878"/>
          <p:cNvSpPr txBox="1"/>
          <p:nvPr/>
        </p:nvSpPr>
        <p:spPr>
          <a:xfrm>
            <a:off x="318350" y="977200"/>
            <a:ext cx="4914000" cy="3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Will build an AI-powered e-commerce assistant using </a:t>
            </a:r>
            <a:r>
              <a:rPr b="1" i="0" lang="en" sz="1400" u="none" cap="none" strike="noStrike">
                <a:solidFill>
                  <a:srgbClr val="00FF00"/>
                </a:solidFill>
                <a:latin typeface="Fira Sans"/>
                <a:ea typeface="Fira Sans"/>
                <a:cs typeface="Fira Sans"/>
                <a:sym typeface="Fira Sans"/>
              </a:rPr>
              <a:t>LLMs and Pydantic AI </a:t>
            </a:r>
            <a:r>
              <a:rPr b="0" i="0" lang="en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to provide personalized shopping insights. 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Will implement </a:t>
            </a:r>
            <a:r>
              <a:rPr b="1" i="0" lang="en" sz="1400" u="none" cap="none" strike="noStrike">
                <a:solidFill>
                  <a:srgbClr val="00FF00"/>
                </a:solidFill>
                <a:latin typeface="Fira Sans"/>
                <a:ea typeface="Fira Sans"/>
                <a:cs typeface="Fira Sans"/>
                <a:sym typeface="Fira Sans"/>
              </a:rPr>
              <a:t>multi-agent AI using Pydantic AI</a:t>
            </a: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to delegate specialized tasks such as review summarization, price comparisons, and product discovery. </a:t>
            </a:r>
            <a:endParaRPr b="0" i="0" sz="14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Will deploy a </a:t>
            </a:r>
            <a:r>
              <a:rPr b="1" i="0" lang="en" sz="1400" u="none" cap="none" strike="noStrike">
                <a:solidFill>
                  <a:srgbClr val="00FF00"/>
                </a:solidFill>
                <a:latin typeface="Fira Sans"/>
                <a:ea typeface="Fira Sans"/>
                <a:cs typeface="Fira Sans"/>
                <a:sym typeface="Fira Sans"/>
              </a:rPr>
              <a:t>FastAPI-based backend</a:t>
            </a:r>
            <a:r>
              <a:rPr b="0" i="0" lang="en" sz="14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for seamless query handling, ensuring efficient and scalable customer assistance.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31f5041ea0_0_885"/>
          <p:cNvSpPr txBox="1"/>
          <p:nvPr>
            <p:ph type="title"/>
          </p:nvPr>
        </p:nvSpPr>
        <p:spPr>
          <a:xfrm>
            <a:off x="577625" y="596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Tools Used</a:t>
            </a:r>
            <a:endParaRPr b="1" sz="3200">
              <a:solidFill>
                <a:schemeClr val="accent4"/>
              </a:solidFill>
            </a:endParaRPr>
          </a:p>
        </p:txBody>
      </p:sp>
      <p:pic>
        <p:nvPicPr>
          <p:cNvPr id="389" name="Google Shape;389;g331f5041ea0_0_8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0094" y="3409831"/>
            <a:ext cx="1678781" cy="678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g331f5041ea0_0_8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4056" y="1072684"/>
            <a:ext cx="2007394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331f5041ea0_0_8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099" y="1079826"/>
            <a:ext cx="1178075" cy="65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331f5041ea0_0_8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24225" y="2573631"/>
            <a:ext cx="1100138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31f5041ea0_0_8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6438" y="3037894"/>
            <a:ext cx="1707356" cy="728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31f5041ea0_0_88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7638" y="2552181"/>
            <a:ext cx="1207294" cy="678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331f5041ea0_0_88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68706" y="1787419"/>
            <a:ext cx="1400175" cy="58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g331f5041ea0_0_88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7400" y="1079819"/>
            <a:ext cx="2007394" cy="528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331f5041ea0_0_885"/>
          <p:cNvPicPr preferRelativeResize="0"/>
          <p:nvPr/>
        </p:nvPicPr>
        <p:blipFill rotWithShape="1">
          <a:blip r:embed="rId11">
            <a:alphaModFix/>
          </a:blip>
          <a:srcRect b="26244" l="0" r="0" t="33861"/>
          <a:stretch/>
        </p:blipFill>
        <p:spPr>
          <a:xfrm>
            <a:off x="3499188" y="3582800"/>
            <a:ext cx="1914525" cy="53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331f5041ea0_0_88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14904" y="1973910"/>
            <a:ext cx="1924221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331f5041ea0_0_88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486863" y="3582788"/>
            <a:ext cx="62865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0" name="Google Shape;400;g331f5041ea0_0_885"/>
          <p:cNvGrpSpPr/>
          <p:nvPr/>
        </p:nvGrpSpPr>
        <p:grpSpPr>
          <a:xfrm>
            <a:off x="830083" y="1856801"/>
            <a:ext cx="1100102" cy="830205"/>
            <a:chOff x="457200" y="777675"/>
            <a:chExt cx="1293325" cy="905250"/>
          </a:xfrm>
        </p:grpSpPr>
        <p:pic>
          <p:nvPicPr>
            <p:cNvPr id="401" name="Google Shape;401;g331f5041ea0_0_885"/>
            <p:cNvPicPr preferRelativeResize="0"/>
            <p:nvPr/>
          </p:nvPicPr>
          <p:blipFill rotWithShape="1">
            <a:blip r:embed="rId14">
              <a:alphaModFix/>
            </a:blip>
            <a:srcRect b="0" l="0" r="68399" t="0"/>
            <a:stretch/>
          </p:blipFill>
          <p:spPr>
            <a:xfrm>
              <a:off x="457200" y="777675"/>
              <a:ext cx="1293325" cy="63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g331f5041ea0_0_885"/>
            <p:cNvPicPr preferRelativeResize="0"/>
            <p:nvPr/>
          </p:nvPicPr>
          <p:blipFill rotWithShape="1">
            <a:blip r:embed="rId14">
              <a:alphaModFix/>
            </a:blip>
            <a:srcRect b="0" l="33506" r="-2042" t="0"/>
            <a:stretch/>
          </p:blipFill>
          <p:spPr>
            <a:xfrm>
              <a:off x="500213" y="1411442"/>
              <a:ext cx="1207300" cy="2714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3" name="Google Shape;403;g331f5041ea0_0_88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199575" y="1924845"/>
            <a:ext cx="1445925" cy="498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31f5041ea0_0_885"/>
          <p:cNvPicPr preferRelativeResize="0"/>
          <p:nvPr/>
        </p:nvPicPr>
        <p:blipFill rotWithShape="1">
          <a:blip r:embed="rId16">
            <a:alphaModFix/>
          </a:blip>
          <a:srcRect b="19086" l="0" r="0" t="15118"/>
          <a:stretch/>
        </p:blipFill>
        <p:spPr>
          <a:xfrm>
            <a:off x="4063200" y="2592475"/>
            <a:ext cx="1775923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g331f5041ea0_0_88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499200" y="4342268"/>
            <a:ext cx="1678775" cy="27624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331f5041ea0_0_885"/>
          <p:cNvSpPr/>
          <p:nvPr/>
        </p:nvSpPr>
        <p:spPr>
          <a:xfrm>
            <a:off x="172575" y="765225"/>
            <a:ext cx="8754000" cy="396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highlight>
                <a:schemeClr val="lt1"/>
              </a:highlight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31f5041ea0_0_907"/>
          <p:cNvSpPr txBox="1"/>
          <p:nvPr>
            <p:ph type="title"/>
          </p:nvPr>
        </p:nvSpPr>
        <p:spPr>
          <a:xfrm>
            <a:off x="577625" y="288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Dataset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412" name="Google Shape;412;g331f5041ea0_0_90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31f5041ea0_0_907"/>
          <p:cNvSpPr txBox="1"/>
          <p:nvPr/>
        </p:nvSpPr>
        <p:spPr>
          <a:xfrm>
            <a:off x="609600" y="1066800"/>
            <a:ext cx="53283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AB40"/>
                </a:solidFill>
                <a:latin typeface="Arial"/>
                <a:ea typeface="Arial"/>
                <a:cs typeface="Arial"/>
                <a:sym typeface="Arial"/>
              </a:rPr>
              <a:t>Product Catalog Dataset</a:t>
            </a:r>
            <a:endParaRPr b="1" i="0" sz="1600" u="none" cap="none" strike="noStrike">
              <a:solidFill>
                <a:srgbClr val="FFAB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Contains product names, descriptions, prices, brands, categories, and images.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Used for: Recommendations, price comparisons, and product search.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BB831"/>
                </a:solidFill>
                <a:latin typeface="Arial"/>
                <a:ea typeface="Arial"/>
                <a:cs typeface="Arial"/>
                <a:sym typeface="Arial"/>
              </a:rPr>
              <a:t>Customer Reviews Dataset</a:t>
            </a:r>
            <a:endParaRPr b="1" i="0" sz="1600" u="none" cap="none" strike="noStrike">
              <a:solidFill>
                <a:srgbClr val="FBB83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Includes customer reviews, ratings, timestamps, and sentiment labels.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Used for: Review summarization and sentiment analysis.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ector image of blue and gray database symbol | Free SVG" id="414" name="Google Shape;414;g331f5041ea0_0_9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3975" y="1496950"/>
            <a:ext cx="257175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31f5041ea0_0_914"/>
          <p:cNvSpPr txBox="1"/>
          <p:nvPr>
            <p:ph type="title"/>
          </p:nvPr>
        </p:nvSpPr>
        <p:spPr>
          <a:xfrm>
            <a:off x="577625" y="288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Dataset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420" name="Google Shape;420;g331f5041ea0_0_9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31f5041ea0_0_914"/>
          <p:cNvSpPr txBox="1"/>
          <p:nvPr/>
        </p:nvSpPr>
        <p:spPr>
          <a:xfrm>
            <a:off x="609600" y="1066800"/>
            <a:ext cx="5601900" cy="13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BB831"/>
                </a:solidFill>
                <a:latin typeface="Arial"/>
                <a:ea typeface="Arial"/>
                <a:cs typeface="Arial"/>
                <a:sym typeface="Arial"/>
              </a:rPr>
              <a:t>Store Policies Dataset</a:t>
            </a:r>
            <a:endParaRPr b="1" i="0" sz="1600" u="none" cap="none" strike="noStrike">
              <a:solidFill>
                <a:srgbClr val="FBB83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Contains return/exchange policies, refund rules, shipping details, and store FAQs.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Used for: Automating customer support queries.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ector image of blue and gray database symbol | Free SVG" id="422" name="Google Shape;422;g331f5041ea0_0_9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3975" y="1496950"/>
            <a:ext cx="257175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31f5041ea0_0_9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31f5041ea0_0_921"/>
          <p:cNvSpPr txBox="1"/>
          <p:nvPr/>
        </p:nvSpPr>
        <p:spPr>
          <a:xfrm>
            <a:off x="318350" y="1205800"/>
            <a:ext cx="4914000" cy="3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9" name="Google Shape;429;g331f5041ea0_0_921"/>
          <p:cNvSpPr txBox="1"/>
          <p:nvPr/>
        </p:nvSpPr>
        <p:spPr>
          <a:xfrm flipH="1">
            <a:off x="577625" y="4482400"/>
            <a:ext cx="29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u="sng">
                <a:solidFill>
                  <a:schemeClr val="hlink"/>
                </a:solidFill>
                <a:hlinkClick r:id="rId3"/>
              </a:rPr>
              <a:t>SmartShop AI | Grading_Rubrics</a:t>
            </a:r>
            <a:endParaRPr b="1"/>
          </a:p>
        </p:txBody>
      </p:sp>
      <p:sp>
        <p:nvSpPr>
          <p:cNvPr id="430" name="Google Shape;430;g331f5041ea0_0_921"/>
          <p:cNvSpPr txBox="1"/>
          <p:nvPr/>
        </p:nvSpPr>
        <p:spPr>
          <a:xfrm>
            <a:off x="577625" y="288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  <a:t>Grading Rubrics</a:t>
            </a:r>
            <a:endParaRPr b="1" i="0" sz="3200" u="none" cap="none" strike="noStrike">
              <a:solidFill>
                <a:srgbClr val="FFAB4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431" name="Google Shape;431;g331f5041ea0_0_9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25" y="993825"/>
            <a:ext cx="9001001" cy="337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31f5041ea0_0_927"/>
          <p:cNvSpPr txBox="1"/>
          <p:nvPr>
            <p:ph type="title"/>
          </p:nvPr>
        </p:nvSpPr>
        <p:spPr>
          <a:xfrm>
            <a:off x="628650" y="1342453"/>
            <a:ext cx="7886700" cy="14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How will we build this in the following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3200">
                <a:solidFill>
                  <a:schemeClr val="accent4"/>
                </a:solidFill>
              </a:rPr>
              <a:t>8 weeks?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437" name="Google Shape;437;g331f5041ea0_0_9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31f5041ea0_0_932"/>
          <p:cNvSpPr txBox="1"/>
          <p:nvPr>
            <p:ph type="title"/>
          </p:nvPr>
        </p:nvSpPr>
        <p:spPr>
          <a:xfrm>
            <a:off x="577625" y="288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8 Week Plan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443" name="Google Shape;443;g331f5041ea0_0_932"/>
          <p:cNvSpPr txBox="1"/>
          <p:nvPr/>
        </p:nvSpPr>
        <p:spPr>
          <a:xfrm>
            <a:off x="4594675" y="1078600"/>
            <a:ext cx="43104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Overview of Projects and real-world applications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Project Walkthroughs: Problem statement, Tech stack, Datasets, Expected outcomes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</a:t>
            </a: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Milestone Breakdown &amp; </a:t>
            </a: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Project Documentation Presentation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Final Project Documentation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44" name="Google Shape;444;g331f5041ea0_0_932"/>
          <p:cNvGrpSpPr/>
          <p:nvPr/>
        </p:nvGrpSpPr>
        <p:grpSpPr>
          <a:xfrm>
            <a:off x="403383" y="1112919"/>
            <a:ext cx="4130262" cy="1164099"/>
            <a:chOff x="2248350" y="1243925"/>
            <a:chExt cx="3885477" cy="996575"/>
          </a:xfrm>
        </p:grpSpPr>
        <p:sp>
          <p:nvSpPr>
            <p:cNvPr id="445" name="Google Shape;445;g331f5041ea0_0_932"/>
            <p:cNvSpPr/>
            <p:nvPr/>
          </p:nvSpPr>
          <p:spPr>
            <a:xfrm>
              <a:off x="2248362" y="1243925"/>
              <a:ext cx="3885465" cy="736700"/>
            </a:xfrm>
            <a:custGeom>
              <a:rect b="b" l="l" r="r" t="t"/>
              <a:pathLst>
                <a:path extrusionOk="0" h="29468" w="140816">
                  <a:moveTo>
                    <a:pt x="8514" y="0"/>
                  </a:moveTo>
                  <a:lnTo>
                    <a:pt x="1" y="14740"/>
                  </a:lnTo>
                  <a:lnTo>
                    <a:pt x="8514" y="29468"/>
                  </a:lnTo>
                  <a:lnTo>
                    <a:pt x="132303" y="29468"/>
                  </a:lnTo>
                  <a:lnTo>
                    <a:pt x="140816" y="14740"/>
                  </a:lnTo>
                  <a:lnTo>
                    <a:pt x="132303" y="0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31f5041ea0_0_932"/>
            <p:cNvSpPr/>
            <p:nvPr/>
          </p:nvSpPr>
          <p:spPr>
            <a:xfrm>
              <a:off x="3078275" y="1557063"/>
              <a:ext cx="44675" cy="204800"/>
            </a:xfrm>
            <a:custGeom>
              <a:rect b="b" l="l" r="r" t="t"/>
              <a:pathLst>
                <a:path extrusionOk="0" h="8192" w="1787">
                  <a:moveTo>
                    <a:pt x="0" y="0"/>
                  </a:moveTo>
                  <a:lnTo>
                    <a:pt x="0" y="8192"/>
                  </a:lnTo>
                  <a:lnTo>
                    <a:pt x="1786" y="819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331f5041ea0_0_932"/>
            <p:cNvSpPr/>
            <p:nvPr/>
          </p:nvSpPr>
          <p:spPr>
            <a:xfrm>
              <a:off x="3018750" y="1594263"/>
              <a:ext cx="44650" cy="167600"/>
            </a:xfrm>
            <a:custGeom>
              <a:rect b="b" l="l" r="r" t="t"/>
              <a:pathLst>
                <a:path extrusionOk="0" h="6704" w="1786">
                  <a:moveTo>
                    <a:pt x="0" y="1"/>
                  </a:moveTo>
                  <a:lnTo>
                    <a:pt x="0" y="6704"/>
                  </a:lnTo>
                  <a:lnTo>
                    <a:pt x="1786" y="6704"/>
                  </a:lnTo>
                  <a:lnTo>
                    <a:pt x="1786" y="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31f5041ea0_0_932"/>
            <p:cNvSpPr/>
            <p:nvPr/>
          </p:nvSpPr>
          <p:spPr>
            <a:xfrm>
              <a:off x="2963075" y="1631488"/>
              <a:ext cx="44675" cy="130375"/>
            </a:xfrm>
            <a:custGeom>
              <a:rect b="b" l="l" r="r" t="t"/>
              <a:pathLst>
                <a:path extrusionOk="0" h="5215" w="1787">
                  <a:moveTo>
                    <a:pt x="1" y="0"/>
                  </a:moveTo>
                  <a:lnTo>
                    <a:pt x="1" y="5215"/>
                  </a:lnTo>
                  <a:lnTo>
                    <a:pt x="1787" y="5215"/>
                  </a:lnTo>
                  <a:lnTo>
                    <a:pt x="1787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331f5041ea0_0_932"/>
            <p:cNvSpPr/>
            <p:nvPr/>
          </p:nvSpPr>
          <p:spPr>
            <a:xfrm>
              <a:off x="2903550" y="1672563"/>
              <a:ext cx="44675" cy="89300"/>
            </a:xfrm>
            <a:custGeom>
              <a:rect b="b" l="l" r="r" t="t"/>
              <a:pathLst>
                <a:path extrusionOk="0" h="3572" w="1787">
                  <a:moveTo>
                    <a:pt x="0" y="0"/>
                  </a:moveTo>
                  <a:lnTo>
                    <a:pt x="0" y="3572"/>
                  </a:lnTo>
                  <a:lnTo>
                    <a:pt x="1786" y="357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31f5041ea0_0_932"/>
            <p:cNvSpPr/>
            <p:nvPr/>
          </p:nvSpPr>
          <p:spPr>
            <a:xfrm>
              <a:off x="2248350" y="1243925"/>
              <a:ext cx="882275" cy="996575"/>
            </a:xfrm>
            <a:custGeom>
              <a:rect b="b" l="l" r="r" t="t"/>
              <a:pathLst>
                <a:path extrusionOk="0" h="39863" w="35291">
                  <a:moveTo>
                    <a:pt x="1" y="0"/>
                  </a:moveTo>
                  <a:lnTo>
                    <a:pt x="1" y="29468"/>
                  </a:lnTo>
                  <a:lnTo>
                    <a:pt x="17646" y="39862"/>
                  </a:lnTo>
                  <a:lnTo>
                    <a:pt x="35291" y="29468"/>
                  </a:lnTo>
                  <a:lnTo>
                    <a:pt x="35291" y="0"/>
                  </a:lnTo>
                  <a:close/>
                </a:path>
              </a:pathLst>
            </a:custGeom>
            <a:solidFill>
              <a:srgbClr val="9ED1FD"/>
            </a:solidFill>
            <a:ln>
              <a:noFill/>
            </a:ln>
          </p:spPr>
          <p:txBody>
            <a:bodyPr anchorCtr="0" anchor="ctr" bIns="2743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" sz="2900" u="none" cap="none" strike="noStrike">
                  <a:solidFill>
                    <a:srgbClr val="66666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b="0" i="0" sz="2900" u="none" cap="none" strike="noStrike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51" name="Google Shape;451;g331f5041ea0_0_932"/>
            <p:cNvSpPr/>
            <p:nvPr/>
          </p:nvSpPr>
          <p:spPr>
            <a:xfrm>
              <a:off x="3137822" y="1457875"/>
              <a:ext cx="2858400" cy="2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Project Initialization </a:t>
              </a:r>
              <a:endParaRPr b="0" i="0" sz="17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&amp; Fundamentals</a:t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2" name="Google Shape;452;g331f5041ea0_0_932"/>
          <p:cNvGrpSpPr/>
          <p:nvPr/>
        </p:nvGrpSpPr>
        <p:grpSpPr>
          <a:xfrm>
            <a:off x="327183" y="3343652"/>
            <a:ext cx="4130262" cy="1164099"/>
            <a:chOff x="2248350" y="3610275"/>
            <a:chExt cx="3885477" cy="996575"/>
          </a:xfrm>
        </p:grpSpPr>
        <p:sp>
          <p:nvSpPr>
            <p:cNvPr id="453" name="Google Shape;453;g331f5041ea0_0_932"/>
            <p:cNvSpPr/>
            <p:nvPr/>
          </p:nvSpPr>
          <p:spPr>
            <a:xfrm>
              <a:off x="2248362" y="3610275"/>
              <a:ext cx="3885465" cy="736725"/>
            </a:xfrm>
            <a:custGeom>
              <a:rect b="b" l="l" r="r" t="t"/>
              <a:pathLst>
                <a:path extrusionOk="0" h="29469" w="140816">
                  <a:moveTo>
                    <a:pt x="8514" y="1"/>
                  </a:moveTo>
                  <a:lnTo>
                    <a:pt x="1" y="14729"/>
                  </a:lnTo>
                  <a:lnTo>
                    <a:pt x="8514" y="29468"/>
                  </a:lnTo>
                  <a:lnTo>
                    <a:pt x="132303" y="29468"/>
                  </a:lnTo>
                  <a:lnTo>
                    <a:pt x="140816" y="14729"/>
                  </a:lnTo>
                  <a:lnTo>
                    <a:pt x="132303" y="1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331f5041ea0_0_932"/>
            <p:cNvSpPr/>
            <p:nvPr/>
          </p:nvSpPr>
          <p:spPr>
            <a:xfrm>
              <a:off x="2248350" y="3610275"/>
              <a:ext cx="882275" cy="996575"/>
            </a:xfrm>
            <a:custGeom>
              <a:rect b="b" l="l" r="r" t="t"/>
              <a:pathLst>
                <a:path extrusionOk="0" h="39863" w="35291">
                  <a:moveTo>
                    <a:pt x="0" y="1"/>
                  </a:moveTo>
                  <a:lnTo>
                    <a:pt x="0" y="29468"/>
                  </a:lnTo>
                  <a:lnTo>
                    <a:pt x="17645" y="39863"/>
                  </a:lnTo>
                  <a:lnTo>
                    <a:pt x="35291" y="29468"/>
                  </a:lnTo>
                  <a:lnTo>
                    <a:pt x="35291" y="1"/>
                  </a:ln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anchorCtr="0" anchor="ctr" bIns="2743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" sz="2900" u="none" cap="none" strike="noStrike">
                  <a:solidFill>
                    <a:srgbClr val="66666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b="0" i="0" sz="2900" u="none" cap="none" strike="noStrike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55" name="Google Shape;455;g331f5041ea0_0_932"/>
            <p:cNvSpPr/>
            <p:nvPr/>
          </p:nvSpPr>
          <p:spPr>
            <a:xfrm>
              <a:off x="3301048" y="3847950"/>
              <a:ext cx="2541900" cy="2712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Dataset Exploration</a:t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g331f5041ea0_0_932"/>
          <p:cNvSpPr txBox="1"/>
          <p:nvPr/>
        </p:nvSpPr>
        <p:spPr>
          <a:xfrm>
            <a:off x="4670875" y="3288400"/>
            <a:ext cx="43104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Development Environment Setup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</a:t>
            </a: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Explore customer reviews, FAQ, and store policy datasets.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Store dataset representation in models.py and db.py.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Database Hosting – Deploy MySQL on AWS/DigitalOcean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31f5041ea0_0_950"/>
          <p:cNvSpPr txBox="1"/>
          <p:nvPr>
            <p:ph type="title"/>
          </p:nvPr>
        </p:nvSpPr>
        <p:spPr>
          <a:xfrm>
            <a:off x="577625" y="288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8 Week Plan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462" name="Google Shape;462;g331f5041ea0_0_950"/>
          <p:cNvSpPr txBox="1"/>
          <p:nvPr/>
        </p:nvSpPr>
        <p:spPr>
          <a:xfrm>
            <a:off x="4594675" y="1078600"/>
            <a:ext cx="43104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Build Coordinator Agent for query handling.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Implement Review Summarization Agent with sentiment analysis.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Define Pydantic models for AI agent responses.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Connect agents for coordinated response generation.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63" name="Google Shape;463;g331f5041ea0_0_950"/>
          <p:cNvGrpSpPr/>
          <p:nvPr/>
        </p:nvGrpSpPr>
        <p:grpSpPr>
          <a:xfrm>
            <a:off x="403383" y="1112919"/>
            <a:ext cx="4130262" cy="1164099"/>
            <a:chOff x="2248350" y="1243925"/>
            <a:chExt cx="3885477" cy="996575"/>
          </a:xfrm>
        </p:grpSpPr>
        <p:sp>
          <p:nvSpPr>
            <p:cNvPr id="464" name="Google Shape;464;g331f5041ea0_0_950"/>
            <p:cNvSpPr/>
            <p:nvPr/>
          </p:nvSpPr>
          <p:spPr>
            <a:xfrm>
              <a:off x="2248362" y="1243925"/>
              <a:ext cx="3885465" cy="736700"/>
            </a:xfrm>
            <a:custGeom>
              <a:rect b="b" l="l" r="r" t="t"/>
              <a:pathLst>
                <a:path extrusionOk="0" h="29468" w="140816">
                  <a:moveTo>
                    <a:pt x="8514" y="0"/>
                  </a:moveTo>
                  <a:lnTo>
                    <a:pt x="1" y="14740"/>
                  </a:lnTo>
                  <a:lnTo>
                    <a:pt x="8514" y="29468"/>
                  </a:lnTo>
                  <a:lnTo>
                    <a:pt x="132303" y="29468"/>
                  </a:lnTo>
                  <a:lnTo>
                    <a:pt x="140816" y="14740"/>
                  </a:lnTo>
                  <a:lnTo>
                    <a:pt x="132303" y="0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331f5041ea0_0_950"/>
            <p:cNvSpPr/>
            <p:nvPr/>
          </p:nvSpPr>
          <p:spPr>
            <a:xfrm>
              <a:off x="3078275" y="1557063"/>
              <a:ext cx="44675" cy="204800"/>
            </a:xfrm>
            <a:custGeom>
              <a:rect b="b" l="l" r="r" t="t"/>
              <a:pathLst>
                <a:path extrusionOk="0" h="8192" w="1787">
                  <a:moveTo>
                    <a:pt x="0" y="0"/>
                  </a:moveTo>
                  <a:lnTo>
                    <a:pt x="0" y="8192"/>
                  </a:lnTo>
                  <a:lnTo>
                    <a:pt x="1786" y="819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331f5041ea0_0_950"/>
            <p:cNvSpPr/>
            <p:nvPr/>
          </p:nvSpPr>
          <p:spPr>
            <a:xfrm>
              <a:off x="3018750" y="1594263"/>
              <a:ext cx="44650" cy="167600"/>
            </a:xfrm>
            <a:custGeom>
              <a:rect b="b" l="l" r="r" t="t"/>
              <a:pathLst>
                <a:path extrusionOk="0" h="6704" w="1786">
                  <a:moveTo>
                    <a:pt x="0" y="1"/>
                  </a:moveTo>
                  <a:lnTo>
                    <a:pt x="0" y="6704"/>
                  </a:lnTo>
                  <a:lnTo>
                    <a:pt x="1786" y="6704"/>
                  </a:lnTo>
                  <a:lnTo>
                    <a:pt x="1786" y="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331f5041ea0_0_950"/>
            <p:cNvSpPr/>
            <p:nvPr/>
          </p:nvSpPr>
          <p:spPr>
            <a:xfrm>
              <a:off x="2963075" y="1631488"/>
              <a:ext cx="44675" cy="130375"/>
            </a:xfrm>
            <a:custGeom>
              <a:rect b="b" l="l" r="r" t="t"/>
              <a:pathLst>
                <a:path extrusionOk="0" h="5215" w="1787">
                  <a:moveTo>
                    <a:pt x="1" y="0"/>
                  </a:moveTo>
                  <a:lnTo>
                    <a:pt x="1" y="5215"/>
                  </a:lnTo>
                  <a:lnTo>
                    <a:pt x="1787" y="5215"/>
                  </a:lnTo>
                  <a:lnTo>
                    <a:pt x="1787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331f5041ea0_0_950"/>
            <p:cNvSpPr/>
            <p:nvPr/>
          </p:nvSpPr>
          <p:spPr>
            <a:xfrm>
              <a:off x="2903550" y="1672563"/>
              <a:ext cx="44675" cy="89300"/>
            </a:xfrm>
            <a:custGeom>
              <a:rect b="b" l="l" r="r" t="t"/>
              <a:pathLst>
                <a:path extrusionOk="0" h="3572" w="1787">
                  <a:moveTo>
                    <a:pt x="0" y="0"/>
                  </a:moveTo>
                  <a:lnTo>
                    <a:pt x="0" y="3572"/>
                  </a:lnTo>
                  <a:lnTo>
                    <a:pt x="1786" y="357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331f5041ea0_0_950"/>
            <p:cNvSpPr/>
            <p:nvPr/>
          </p:nvSpPr>
          <p:spPr>
            <a:xfrm>
              <a:off x="2248350" y="1243925"/>
              <a:ext cx="882275" cy="996575"/>
            </a:xfrm>
            <a:custGeom>
              <a:rect b="b" l="l" r="r" t="t"/>
              <a:pathLst>
                <a:path extrusionOk="0" h="39863" w="35291">
                  <a:moveTo>
                    <a:pt x="1" y="0"/>
                  </a:moveTo>
                  <a:lnTo>
                    <a:pt x="1" y="29468"/>
                  </a:lnTo>
                  <a:lnTo>
                    <a:pt x="17646" y="39862"/>
                  </a:lnTo>
                  <a:lnTo>
                    <a:pt x="35291" y="29468"/>
                  </a:lnTo>
                  <a:lnTo>
                    <a:pt x="35291" y="0"/>
                  </a:lnTo>
                  <a:close/>
                </a:path>
              </a:pathLst>
            </a:custGeom>
            <a:solidFill>
              <a:srgbClr val="9ED1FD"/>
            </a:solidFill>
            <a:ln>
              <a:noFill/>
            </a:ln>
          </p:spPr>
          <p:txBody>
            <a:bodyPr anchorCtr="0" anchor="ctr" bIns="2743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" sz="2900" u="none" cap="none" strike="noStrike">
                  <a:solidFill>
                    <a:srgbClr val="66666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b="0" i="0" sz="2900" u="none" cap="none" strike="noStrike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70" name="Google Shape;470;g331f5041ea0_0_950"/>
            <p:cNvSpPr/>
            <p:nvPr/>
          </p:nvSpPr>
          <p:spPr>
            <a:xfrm>
              <a:off x="3137822" y="1457875"/>
              <a:ext cx="2858400" cy="2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AI Agent Implementation</a:t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g331f5041ea0_0_950"/>
          <p:cNvGrpSpPr/>
          <p:nvPr/>
        </p:nvGrpSpPr>
        <p:grpSpPr>
          <a:xfrm>
            <a:off x="327183" y="3343652"/>
            <a:ext cx="4130262" cy="1164099"/>
            <a:chOff x="2248350" y="3610275"/>
            <a:chExt cx="3885477" cy="996575"/>
          </a:xfrm>
        </p:grpSpPr>
        <p:sp>
          <p:nvSpPr>
            <p:cNvPr id="472" name="Google Shape;472;g331f5041ea0_0_950"/>
            <p:cNvSpPr/>
            <p:nvPr/>
          </p:nvSpPr>
          <p:spPr>
            <a:xfrm>
              <a:off x="2248362" y="3610275"/>
              <a:ext cx="3885465" cy="736725"/>
            </a:xfrm>
            <a:custGeom>
              <a:rect b="b" l="l" r="r" t="t"/>
              <a:pathLst>
                <a:path extrusionOk="0" h="29469" w="140816">
                  <a:moveTo>
                    <a:pt x="8514" y="1"/>
                  </a:moveTo>
                  <a:lnTo>
                    <a:pt x="1" y="14729"/>
                  </a:lnTo>
                  <a:lnTo>
                    <a:pt x="8514" y="29468"/>
                  </a:lnTo>
                  <a:lnTo>
                    <a:pt x="132303" y="29468"/>
                  </a:lnTo>
                  <a:lnTo>
                    <a:pt x="140816" y="14729"/>
                  </a:lnTo>
                  <a:lnTo>
                    <a:pt x="132303" y="1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331f5041ea0_0_950"/>
            <p:cNvSpPr/>
            <p:nvPr/>
          </p:nvSpPr>
          <p:spPr>
            <a:xfrm>
              <a:off x="2248350" y="3610275"/>
              <a:ext cx="882275" cy="996575"/>
            </a:xfrm>
            <a:custGeom>
              <a:rect b="b" l="l" r="r" t="t"/>
              <a:pathLst>
                <a:path extrusionOk="0" h="39863" w="35291">
                  <a:moveTo>
                    <a:pt x="0" y="1"/>
                  </a:moveTo>
                  <a:lnTo>
                    <a:pt x="0" y="29468"/>
                  </a:lnTo>
                  <a:lnTo>
                    <a:pt x="17645" y="39863"/>
                  </a:lnTo>
                  <a:lnTo>
                    <a:pt x="35291" y="29468"/>
                  </a:lnTo>
                  <a:lnTo>
                    <a:pt x="35291" y="1"/>
                  </a:ln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anchorCtr="0" anchor="ctr" bIns="2743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" sz="2900" u="none" cap="none" strike="noStrike">
                  <a:solidFill>
                    <a:srgbClr val="66666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 b="0" i="0" sz="2900" u="none" cap="none" strike="noStrike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74" name="Google Shape;474;g331f5041ea0_0_950"/>
            <p:cNvSpPr/>
            <p:nvPr/>
          </p:nvSpPr>
          <p:spPr>
            <a:xfrm>
              <a:off x="3301048" y="3847950"/>
              <a:ext cx="2541900" cy="2712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Expand AI Agents</a:t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5" name="Google Shape;475;g331f5041ea0_0_950"/>
          <p:cNvSpPr txBox="1"/>
          <p:nvPr/>
        </p:nvSpPr>
        <p:spPr>
          <a:xfrm>
            <a:off x="4670875" y="3288400"/>
            <a:ext cx="43104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Develop Product Recommendation, Pricing, and FAQ Agents.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Expand sample data and optimize agent interactions.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Improve agent coordination for seamless query handling.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Test and refine prompt engineering.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31f5041ea0_0_968"/>
          <p:cNvSpPr txBox="1"/>
          <p:nvPr>
            <p:ph type="title"/>
          </p:nvPr>
        </p:nvSpPr>
        <p:spPr>
          <a:xfrm>
            <a:off x="577625" y="288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8 Week Plan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481" name="Google Shape;481;g331f5041ea0_0_968"/>
          <p:cNvSpPr txBox="1"/>
          <p:nvPr/>
        </p:nvSpPr>
        <p:spPr>
          <a:xfrm>
            <a:off x="4594675" y="1078600"/>
            <a:ext cx="43104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Implement LLM evaluation script for agent testing.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Fine-tune FAQ &amp; policy response agents.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Optimize responses through prompt tuning.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Introduce logging and API rate limiting for monitoring.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82" name="Google Shape;482;g331f5041ea0_0_968"/>
          <p:cNvGrpSpPr/>
          <p:nvPr/>
        </p:nvGrpSpPr>
        <p:grpSpPr>
          <a:xfrm>
            <a:off x="403383" y="1112919"/>
            <a:ext cx="4130262" cy="1164099"/>
            <a:chOff x="2248350" y="1243925"/>
            <a:chExt cx="3885477" cy="996575"/>
          </a:xfrm>
        </p:grpSpPr>
        <p:sp>
          <p:nvSpPr>
            <p:cNvPr id="483" name="Google Shape;483;g331f5041ea0_0_968"/>
            <p:cNvSpPr/>
            <p:nvPr/>
          </p:nvSpPr>
          <p:spPr>
            <a:xfrm>
              <a:off x="2248362" y="1243925"/>
              <a:ext cx="3885465" cy="736700"/>
            </a:xfrm>
            <a:custGeom>
              <a:rect b="b" l="l" r="r" t="t"/>
              <a:pathLst>
                <a:path extrusionOk="0" h="29468" w="140816">
                  <a:moveTo>
                    <a:pt x="8514" y="0"/>
                  </a:moveTo>
                  <a:lnTo>
                    <a:pt x="1" y="14740"/>
                  </a:lnTo>
                  <a:lnTo>
                    <a:pt x="8514" y="29468"/>
                  </a:lnTo>
                  <a:lnTo>
                    <a:pt x="132303" y="29468"/>
                  </a:lnTo>
                  <a:lnTo>
                    <a:pt x="140816" y="14740"/>
                  </a:lnTo>
                  <a:lnTo>
                    <a:pt x="132303" y="0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331f5041ea0_0_968"/>
            <p:cNvSpPr/>
            <p:nvPr/>
          </p:nvSpPr>
          <p:spPr>
            <a:xfrm>
              <a:off x="3078275" y="1557063"/>
              <a:ext cx="44675" cy="204800"/>
            </a:xfrm>
            <a:custGeom>
              <a:rect b="b" l="l" r="r" t="t"/>
              <a:pathLst>
                <a:path extrusionOk="0" h="8192" w="1787">
                  <a:moveTo>
                    <a:pt x="0" y="0"/>
                  </a:moveTo>
                  <a:lnTo>
                    <a:pt x="0" y="8192"/>
                  </a:lnTo>
                  <a:lnTo>
                    <a:pt x="1786" y="819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331f5041ea0_0_968"/>
            <p:cNvSpPr/>
            <p:nvPr/>
          </p:nvSpPr>
          <p:spPr>
            <a:xfrm>
              <a:off x="3018750" y="1594263"/>
              <a:ext cx="44650" cy="167600"/>
            </a:xfrm>
            <a:custGeom>
              <a:rect b="b" l="l" r="r" t="t"/>
              <a:pathLst>
                <a:path extrusionOk="0" h="6704" w="1786">
                  <a:moveTo>
                    <a:pt x="0" y="1"/>
                  </a:moveTo>
                  <a:lnTo>
                    <a:pt x="0" y="6704"/>
                  </a:lnTo>
                  <a:lnTo>
                    <a:pt x="1786" y="6704"/>
                  </a:lnTo>
                  <a:lnTo>
                    <a:pt x="1786" y="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331f5041ea0_0_968"/>
            <p:cNvSpPr/>
            <p:nvPr/>
          </p:nvSpPr>
          <p:spPr>
            <a:xfrm>
              <a:off x="2963075" y="1631488"/>
              <a:ext cx="44675" cy="130375"/>
            </a:xfrm>
            <a:custGeom>
              <a:rect b="b" l="l" r="r" t="t"/>
              <a:pathLst>
                <a:path extrusionOk="0" h="5215" w="1787">
                  <a:moveTo>
                    <a:pt x="1" y="0"/>
                  </a:moveTo>
                  <a:lnTo>
                    <a:pt x="1" y="5215"/>
                  </a:lnTo>
                  <a:lnTo>
                    <a:pt x="1787" y="5215"/>
                  </a:lnTo>
                  <a:lnTo>
                    <a:pt x="1787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331f5041ea0_0_968"/>
            <p:cNvSpPr/>
            <p:nvPr/>
          </p:nvSpPr>
          <p:spPr>
            <a:xfrm>
              <a:off x="2903550" y="1672563"/>
              <a:ext cx="44675" cy="89300"/>
            </a:xfrm>
            <a:custGeom>
              <a:rect b="b" l="l" r="r" t="t"/>
              <a:pathLst>
                <a:path extrusionOk="0" h="3572" w="1787">
                  <a:moveTo>
                    <a:pt x="0" y="0"/>
                  </a:moveTo>
                  <a:lnTo>
                    <a:pt x="0" y="3572"/>
                  </a:lnTo>
                  <a:lnTo>
                    <a:pt x="1786" y="357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g331f5041ea0_0_968"/>
            <p:cNvSpPr/>
            <p:nvPr/>
          </p:nvSpPr>
          <p:spPr>
            <a:xfrm>
              <a:off x="2248350" y="1243925"/>
              <a:ext cx="882275" cy="996575"/>
            </a:xfrm>
            <a:custGeom>
              <a:rect b="b" l="l" r="r" t="t"/>
              <a:pathLst>
                <a:path extrusionOk="0" h="39863" w="35291">
                  <a:moveTo>
                    <a:pt x="1" y="0"/>
                  </a:moveTo>
                  <a:lnTo>
                    <a:pt x="1" y="29468"/>
                  </a:lnTo>
                  <a:lnTo>
                    <a:pt x="17646" y="39862"/>
                  </a:lnTo>
                  <a:lnTo>
                    <a:pt x="35291" y="29468"/>
                  </a:lnTo>
                  <a:lnTo>
                    <a:pt x="35291" y="0"/>
                  </a:lnTo>
                  <a:close/>
                </a:path>
              </a:pathLst>
            </a:custGeom>
            <a:solidFill>
              <a:srgbClr val="9ED1FD"/>
            </a:solidFill>
            <a:ln>
              <a:noFill/>
            </a:ln>
          </p:spPr>
          <p:txBody>
            <a:bodyPr anchorCtr="0" anchor="ctr" bIns="2743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" sz="2900" u="none" cap="none" strike="noStrike">
                  <a:solidFill>
                    <a:srgbClr val="66666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05</a:t>
              </a:r>
              <a:endParaRPr b="0" i="0" sz="2900" u="none" cap="none" strike="noStrike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89" name="Google Shape;489;g331f5041ea0_0_968"/>
            <p:cNvSpPr/>
            <p:nvPr/>
          </p:nvSpPr>
          <p:spPr>
            <a:xfrm>
              <a:off x="3137822" y="1457875"/>
              <a:ext cx="2858400" cy="2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Evaluation &amp; System Tuning</a:t>
              </a:r>
              <a:endParaRPr b="0" i="0" sz="17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90" name="Google Shape;490;g331f5041ea0_0_968"/>
          <p:cNvGrpSpPr/>
          <p:nvPr/>
        </p:nvGrpSpPr>
        <p:grpSpPr>
          <a:xfrm>
            <a:off x="327183" y="3343652"/>
            <a:ext cx="4130262" cy="1164099"/>
            <a:chOff x="2248350" y="3610275"/>
            <a:chExt cx="3885477" cy="996575"/>
          </a:xfrm>
        </p:grpSpPr>
        <p:sp>
          <p:nvSpPr>
            <p:cNvPr id="491" name="Google Shape;491;g331f5041ea0_0_968"/>
            <p:cNvSpPr/>
            <p:nvPr/>
          </p:nvSpPr>
          <p:spPr>
            <a:xfrm>
              <a:off x="2248362" y="3610275"/>
              <a:ext cx="3885465" cy="736725"/>
            </a:xfrm>
            <a:custGeom>
              <a:rect b="b" l="l" r="r" t="t"/>
              <a:pathLst>
                <a:path extrusionOk="0" h="29469" w="140816">
                  <a:moveTo>
                    <a:pt x="8514" y="1"/>
                  </a:moveTo>
                  <a:lnTo>
                    <a:pt x="1" y="14729"/>
                  </a:lnTo>
                  <a:lnTo>
                    <a:pt x="8514" y="29468"/>
                  </a:lnTo>
                  <a:lnTo>
                    <a:pt x="132303" y="29468"/>
                  </a:lnTo>
                  <a:lnTo>
                    <a:pt x="140816" y="14729"/>
                  </a:lnTo>
                  <a:lnTo>
                    <a:pt x="132303" y="1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331f5041ea0_0_968"/>
            <p:cNvSpPr/>
            <p:nvPr/>
          </p:nvSpPr>
          <p:spPr>
            <a:xfrm>
              <a:off x="2248350" y="3610275"/>
              <a:ext cx="882275" cy="996575"/>
            </a:xfrm>
            <a:custGeom>
              <a:rect b="b" l="l" r="r" t="t"/>
              <a:pathLst>
                <a:path extrusionOk="0" h="39863" w="35291">
                  <a:moveTo>
                    <a:pt x="0" y="1"/>
                  </a:moveTo>
                  <a:lnTo>
                    <a:pt x="0" y="29468"/>
                  </a:lnTo>
                  <a:lnTo>
                    <a:pt x="17645" y="39863"/>
                  </a:lnTo>
                  <a:lnTo>
                    <a:pt x="35291" y="29468"/>
                  </a:lnTo>
                  <a:lnTo>
                    <a:pt x="35291" y="1"/>
                  </a:ln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anchorCtr="0" anchor="ctr" bIns="2743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" sz="2900" u="none" cap="none" strike="noStrike">
                  <a:solidFill>
                    <a:srgbClr val="66666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06</a:t>
              </a:r>
              <a:endParaRPr b="0" i="0" sz="2900" u="none" cap="none" strike="noStrike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93" name="Google Shape;493;g331f5041ea0_0_968"/>
            <p:cNvSpPr/>
            <p:nvPr/>
          </p:nvSpPr>
          <p:spPr>
            <a:xfrm>
              <a:off x="3157680" y="3876650"/>
              <a:ext cx="2832900" cy="3729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FastAPI Integration &amp; Deployment Prep</a:t>
              </a:r>
              <a:endParaRPr b="0" i="0" sz="1700" u="none" cap="none" strike="noStrik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494" name="Google Shape;494;g331f5041ea0_0_968"/>
          <p:cNvSpPr txBox="1"/>
          <p:nvPr/>
        </p:nvSpPr>
        <p:spPr>
          <a:xfrm>
            <a:off x="4670875" y="3288400"/>
            <a:ext cx="43104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Develop FastAPI router for processing queries.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Integrate AI agents into a REST API endpoint.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Implement caching and optimize API performance.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Prepare deployment environment on Hugging Face/AWS/GCP.</a:t>
            </a:r>
            <a:endParaRPr b="0" i="0" sz="1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31f5041ea0_0_986"/>
          <p:cNvSpPr txBox="1"/>
          <p:nvPr>
            <p:ph type="title"/>
          </p:nvPr>
        </p:nvSpPr>
        <p:spPr>
          <a:xfrm>
            <a:off x="577625" y="2882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8 Week Plan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500" name="Google Shape;500;g331f5041ea0_0_986"/>
          <p:cNvSpPr txBox="1"/>
          <p:nvPr/>
        </p:nvSpPr>
        <p:spPr>
          <a:xfrm>
            <a:off x="4594675" y="1078600"/>
            <a:ext cx="43104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Structure code using clean architecture principles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Develop a Fast API backend on Hugging Face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Create &amp; integrate frontend interface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Dockerize &amp; set up CI/CD pipeline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501" name="Google Shape;501;g331f5041ea0_0_986"/>
          <p:cNvGrpSpPr/>
          <p:nvPr/>
        </p:nvGrpSpPr>
        <p:grpSpPr>
          <a:xfrm>
            <a:off x="403383" y="1112919"/>
            <a:ext cx="4130262" cy="1164099"/>
            <a:chOff x="2248350" y="1243925"/>
            <a:chExt cx="3885477" cy="996575"/>
          </a:xfrm>
        </p:grpSpPr>
        <p:sp>
          <p:nvSpPr>
            <p:cNvPr id="502" name="Google Shape;502;g331f5041ea0_0_986"/>
            <p:cNvSpPr/>
            <p:nvPr/>
          </p:nvSpPr>
          <p:spPr>
            <a:xfrm>
              <a:off x="2248362" y="1243925"/>
              <a:ext cx="3885465" cy="736700"/>
            </a:xfrm>
            <a:custGeom>
              <a:rect b="b" l="l" r="r" t="t"/>
              <a:pathLst>
                <a:path extrusionOk="0" h="29468" w="140816">
                  <a:moveTo>
                    <a:pt x="8514" y="0"/>
                  </a:moveTo>
                  <a:lnTo>
                    <a:pt x="1" y="14740"/>
                  </a:lnTo>
                  <a:lnTo>
                    <a:pt x="8514" y="29468"/>
                  </a:lnTo>
                  <a:lnTo>
                    <a:pt x="132303" y="29468"/>
                  </a:lnTo>
                  <a:lnTo>
                    <a:pt x="140816" y="14740"/>
                  </a:lnTo>
                  <a:lnTo>
                    <a:pt x="132303" y="0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331f5041ea0_0_986"/>
            <p:cNvSpPr/>
            <p:nvPr/>
          </p:nvSpPr>
          <p:spPr>
            <a:xfrm>
              <a:off x="3078275" y="1557063"/>
              <a:ext cx="44675" cy="204800"/>
            </a:xfrm>
            <a:custGeom>
              <a:rect b="b" l="l" r="r" t="t"/>
              <a:pathLst>
                <a:path extrusionOk="0" h="8192" w="1787">
                  <a:moveTo>
                    <a:pt x="0" y="0"/>
                  </a:moveTo>
                  <a:lnTo>
                    <a:pt x="0" y="8192"/>
                  </a:lnTo>
                  <a:lnTo>
                    <a:pt x="1786" y="819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g331f5041ea0_0_986"/>
            <p:cNvSpPr/>
            <p:nvPr/>
          </p:nvSpPr>
          <p:spPr>
            <a:xfrm>
              <a:off x="3018750" y="1594263"/>
              <a:ext cx="44650" cy="167600"/>
            </a:xfrm>
            <a:custGeom>
              <a:rect b="b" l="l" r="r" t="t"/>
              <a:pathLst>
                <a:path extrusionOk="0" h="6704" w="1786">
                  <a:moveTo>
                    <a:pt x="0" y="1"/>
                  </a:moveTo>
                  <a:lnTo>
                    <a:pt x="0" y="6704"/>
                  </a:lnTo>
                  <a:lnTo>
                    <a:pt x="1786" y="6704"/>
                  </a:lnTo>
                  <a:lnTo>
                    <a:pt x="1786" y="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331f5041ea0_0_986"/>
            <p:cNvSpPr/>
            <p:nvPr/>
          </p:nvSpPr>
          <p:spPr>
            <a:xfrm>
              <a:off x="2963075" y="1631488"/>
              <a:ext cx="44675" cy="130375"/>
            </a:xfrm>
            <a:custGeom>
              <a:rect b="b" l="l" r="r" t="t"/>
              <a:pathLst>
                <a:path extrusionOk="0" h="5215" w="1787">
                  <a:moveTo>
                    <a:pt x="1" y="0"/>
                  </a:moveTo>
                  <a:lnTo>
                    <a:pt x="1" y="5215"/>
                  </a:lnTo>
                  <a:lnTo>
                    <a:pt x="1787" y="5215"/>
                  </a:lnTo>
                  <a:lnTo>
                    <a:pt x="1787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331f5041ea0_0_986"/>
            <p:cNvSpPr/>
            <p:nvPr/>
          </p:nvSpPr>
          <p:spPr>
            <a:xfrm>
              <a:off x="2903550" y="1672563"/>
              <a:ext cx="44675" cy="89300"/>
            </a:xfrm>
            <a:custGeom>
              <a:rect b="b" l="l" r="r" t="t"/>
              <a:pathLst>
                <a:path extrusionOk="0" h="3572" w="1787">
                  <a:moveTo>
                    <a:pt x="0" y="0"/>
                  </a:moveTo>
                  <a:lnTo>
                    <a:pt x="0" y="3572"/>
                  </a:lnTo>
                  <a:lnTo>
                    <a:pt x="1786" y="357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331f5041ea0_0_986"/>
            <p:cNvSpPr/>
            <p:nvPr/>
          </p:nvSpPr>
          <p:spPr>
            <a:xfrm>
              <a:off x="2248350" y="1243925"/>
              <a:ext cx="882275" cy="996575"/>
            </a:xfrm>
            <a:custGeom>
              <a:rect b="b" l="l" r="r" t="t"/>
              <a:pathLst>
                <a:path extrusionOk="0" h="39863" w="35291">
                  <a:moveTo>
                    <a:pt x="1" y="0"/>
                  </a:moveTo>
                  <a:lnTo>
                    <a:pt x="1" y="29468"/>
                  </a:lnTo>
                  <a:lnTo>
                    <a:pt x="17646" y="39862"/>
                  </a:lnTo>
                  <a:lnTo>
                    <a:pt x="35291" y="29468"/>
                  </a:lnTo>
                  <a:lnTo>
                    <a:pt x="35291" y="0"/>
                  </a:lnTo>
                  <a:close/>
                </a:path>
              </a:pathLst>
            </a:custGeom>
            <a:solidFill>
              <a:srgbClr val="9ED1FD"/>
            </a:solidFill>
            <a:ln>
              <a:noFill/>
            </a:ln>
          </p:spPr>
          <p:txBody>
            <a:bodyPr anchorCtr="0" anchor="ctr" bIns="2743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" sz="2900" u="none" cap="none" strike="noStrike">
                  <a:solidFill>
                    <a:srgbClr val="66666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07</a:t>
              </a:r>
              <a:endParaRPr b="0" i="0" sz="2900" u="none" cap="none" strike="noStrike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08" name="Google Shape;508;g331f5041ea0_0_986"/>
            <p:cNvSpPr/>
            <p:nvPr/>
          </p:nvSpPr>
          <p:spPr>
            <a:xfrm>
              <a:off x="3137822" y="1457875"/>
              <a:ext cx="2858400" cy="2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Deployment and UI Integration</a:t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g331f5041ea0_0_986"/>
          <p:cNvGrpSpPr/>
          <p:nvPr/>
        </p:nvGrpSpPr>
        <p:grpSpPr>
          <a:xfrm>
            <a:off x="327183" y="3343652"/>
            <a:ext cx="4130262" cy="1164099"/>
            <a:chOff x="2248350" y="3610275"/>
            <a:chExt cx="3885477" cy="996575"/>
          </a:xfrm>
        </p:grpSpPr>
        <p:sp>
          <p:nvSpPr>
            <p:cNvPr id="510" name="Google Shape;510;g331f5041ea0_0_986"/>
            <p:cNvSpPr/>
            <p:nvPr/>
          </p:nvSpPr>
          <p:spPr>
            <a:xfrm>
              <a:off x="2248362" y="3610275"/>
              <a:ext cx="3885465" cy="736725"/>
            </a:xfrm>
            <a:custGeom>
              <a:rect b="b" l="l" r="r" t="t"/>
              <a:pathLst>
                <a:path extrusionOk="0" h="29469" w="140816">
                  <a:moveTo>
                    <a:pt x="8514" y="1"/>
                  </a:moveTo>
                  <a:lnTo>
                    <a:pt x="1" y="14729"/>
                  </a:lnTo>
                  <a:lnTo>
                    <a:pt x="8514" y="29468"/>
                  </a:lnTo>
                  <a:lnTo>
                    <a:pt x="132303" y="29468"/>
                  </a:lnTo>
                  <a:lnTo>
                    <a:pt x="140816" y="14729"/>
                  </a:lnTo>
                  <a:lnTo>
                    <a:pt x="132303" y="1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g331f5041ea0_0_986"/>
            <p:cNvSpPr/>
            <p:nvPr/>
          </p:nvSpPr>
          <p:spPr>
            <a:xfrm>
              <a:off x="2248350" y="3610275"/>
              <a:ext cx="882275" cy="996575"/>
            </a:xfrm>
            <a:custGeom>
              <a:rect b="b" l="l" r="r" t="t"/>
              <a:pathLst>
                <a:path extrusionOk="0" h="39863" w="35291">
                  <a:moveTo>
                    <a:pt x="0" y="1"/>
                  </a:moveTo>
                  <a:lnTo>
                    <a:pt x="0" y="29468"/>
                  </a:lnTo>
                  <a:lnTo>
                    <a:pt x="17645" y="39863"/>
                  </a:lnTo>
                  <a:lnTo>
                    <a:pt x="35291" y="29468"/>
                  </a:lnTo>
                  <a:lnTo>
                    <a:pt x="35291" y="1"/>
                  </a:ln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anchorCtr="0" anchor="ctr" bIns="2743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" sz="2900" u="none" cap="none" strike="noStrike">
                  <a:solidFill>
                    <a:srgbClr val="66666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08</a:t>
              </a:r>
              <a:endParaRPr b="0" i="0" sz="2900" u="none" cap="none" strike="noStrike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12" name="Google Shape;512;g331f5041ea0_0_986"/>
            <p:cNvSpPr/>
            <p:nvPr/>
          </p:nvSpPr>
          <p:spPr>
            <a:xfrm>
              <a:off x="3301048" y="3847950"/>
              <a:ext cx="2541900" cy="2712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Final Presentation &amp;  </a:t>
              </a:r>
              <a:endParaRPr b="0" i="0" sz="17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Interview Readiness</a:t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" name="Google Shape;513;g331f5041ea0_0_986"/>
          <p:cNvSpPr txBox="1"/>
          <p:nvPr/>
        </p:nvSpPr>
        <p:spPr>
          <a:xfrm>
            <a:off x="4670875" y="3288400"/>
            <a:ext cx="43104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Final Presentation with Instructor Review &amp; Peer Review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✅ Final Deployment Checks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Interview Readiness Viva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1f5041ea0_0_1004"/>
          <p:cNvSpPr txBox="1"/>
          <p:nvPr>
            <p:ph type="title"/>
          </p:nvPr>
        </p:nvSpPr>
        <p:spPr>
          <a:xfrm>
            <a:off x="272825" y="135825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8 Week Plan | Outcome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519" name="Google Shape;519;g331f5041ea0_0_100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0" name="Google Shape;520;g331f5041ea0_0_1004"/>
          <p:cNvGrpSpPr/>
          <p:nvPr/>
        </p:nvGrpSpPr>
        <p:grpSpPr>
          <a:xfrm>
            <a:off x="1626536" y="1893152"/>
            <a:ext cx="1481330" cy="1671391"/>
            <a:chOff x="2744109" y="1597469"/>
            <a:chExt cx="1827900" cy="2399700"/>
          </a:xfrm>
        </p:grpSpPr>
        <p:sp>
          <p:nvSpPr>
            <p:cNvPr id="521" name="Google Shape;521;g331f5041ea0_0_1004"/>
            <p:cNvSpPr/>
            <p:nvPr/>
          </p:nvSpPr>
          <p:spPr>
            <a:xfrm rot="5400000">
              <a:off x="2458209" y="1883369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FB56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331f5041ea0_0_1004"/>
            <p:cNvSpPr/>
            <p:nvPr/>
          </p:nvSpPr>
          <p:spPr>
            <a:xfrm flipH="1" rot="10800000">
              <a:off x="2834043" y="1687411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AC11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" name="Google Shape;523;g331f5041ea0_0_1004"/>
          <p:cNvGrpSpPr/>
          <p:nvPr/>
        </p:nvGrpSpPr>
        <p:grpSpPr>
          <a:xfrm>
            <a:off x="3107866" y="1578943"/>
            <a:ext cx="1481330" cy="1671391"/>
            <a:chOff x="4572009" y="1146343"/>
            <a:chExt cx="1827900" cy="2399700"/>
          </a:xfrm>
        </p:grpSpPr>
        <p:sp>
          <p:nvSpPr>
            <p:cNvPr id="524" name="Google Shape;524;g331f5041ea0_0_1004"/>
            <p:cNvSpPr/>
            <p:nvPr/>
          </p:nvSpPr>
          <p:spPr>
            <a:xfrm rot="-5400000">
              <a:off x="4286109" y="1432243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F48F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g331f5041ea0_0_1004"/>
            <p:cNvSpPr/>
            <p:nvPr/>
          </p:nvSpPr>
          <p:spPr>
            <a:xfrm flipH="1">
              <a:off x="4660575" y="1686400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AC11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6" name="Google Shape;526;g331f5041ea0_0_1004"/>
          <p:cNvGrpSpPr/>
          <p:nvPr/>
        </p:nvGrpSpPr>
        <p:grpSpPr>
          <a:xfrm>
            <a:off x="4589318" y="1893152"/>
            <a:ext cx="1481330" cy="1671391"/>
            <a:chOff x="6400059" y="1597469"/>
            <a:chExt cx="1827900" cy="2399700"/>
          </a:xfrm>
        </p:grpSpPr>
        <p:sp>
          <p:nvSpPr>
            <p:cNvPr id="527" name="Google Shape;527;g331f5041ea0_0_1004"/>
            <p:cNvSpPr/>
            <p:nvPr/>
          </p:nvSpPr>
          <p:spPr>
            <a:xfrm rot="5400000">
              <a:off x="6114159" y="1883369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FB56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331f5041ea0_0_1004"/>
            <p:cNvSpPr/>
            <p:nvPr/>
          </p:nvSpPr>
          <p:spPr>
            <a:xfrm flipH="1" rot="10800000">
              <a:off x="6489993" y="1687411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AC11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9" name="Google Shape;529;g331f5041ea0_0_1004"/>
          <p:cNvGrpSpPr/>
          <p:nvPr/>
        </p:nvGrpSpPr>
        <p:grpSpPr>
          <a:xfrm>
            <a:off x="145085" y="1578943"/>
            <a:ext cx="1481330" cy="1671391"/>
            <a:chOff x="916059" y="1146343"/>
            <a:chExt cx="1827900" cy="2399700"/>
          </a:xfrm>
        </p:grpSpPr>
        <p:sp>
          <p:nvSpPr>
            <p:cNvPr id="530" name="Google Shape;530;g331f5041ea0_0_1004"/>
            <p:cNvSpPr/>
            <p:nvPr/>
          </p:nvSpPr>
          <p:spPr>
            <a:xfrm rot="-5400000">
              <a:off x="630159" y="1432243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F48F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331f5041ea0_0_1004"/>
            <p:cNvSpPr/>
            <p:nvPr/>
          </p:nvSpPr>
          <p:spPr>
            <a:xfrm flipH="1">
              <a:off x="1004625" y="1686400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AC11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331f5041ea0_0_1004"/>
            <p:cNvSpPr txBox="1"/>
            <p:nvPr/>
          </p:nvSpPr>
          <p:spPr>
            <a:xfrm>
              <a:off x="1138475" y="1795520"/>
              <a:ext cx="1383000" cy="14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3" name="Google Shape;533;g331f5041ea0_0_1004"/>
          <p:cNvGrpSpPr/>
          <p:nvPr/>
        </p:nvGrpSpPr>
        <p:grpSpPr>
          <a:xfrm>
            <a:off x="6070785" y="1578943"/>
            <a:ext cx="1481330" cy="1671391"/>
            <a:chOff x="916059" y="1146343"/>
            <a:chExt cx="1827900" cy="2399700"/>
          </a:xfrm>
        </p:grpSpPr>
        <p:sp>
          <p:nvSpPr>
            <p:cNvPr id="534" name="Google Shape;534;g331f5041ea0_0_1004"/>
            <p:cNvSpPr/>
            <p:nvPr/>
          </p:nvSpPr>
          <p:spPr>
            <a:xfrm rot="-5400000">
              <a:off x="630159" y="1432243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F48F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31f5041ea0_0_1004"/>
            <p:cNvSpPr/>
            <p:nvPr/>
          </p:nvSpPr>
          <p:spPr>
            <a:xfrm flipH="1">
              <a:off x="1004625" y="1686400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AC11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31f5041ea0_0_1004"/>
            <p:cNvSpPr txBox="1"/>
            <p:nvPr/>
          </p:nvSpPr>
          <p:spPr>
            <a:xfrm>
              <a:off x="1138475" y="1795520"/>
              <a:ext cx="1383000" cy="14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7" name="Google Shape;537;g331f5041ea0_0_1004"/>
          <p:cNvGrpSpPr/>
          <p:nvPr/>
        </p:nvGrpSpPr>
        <p:grpSpPr>
          <a:xfrm>
            <a:off x="7552261" y="1893152"/>
            <a:ext cx="1481330" cy="1671391"/>
            <a:chOff x="2744109" y="1597469"/>
            <a:chExt cx="1827900" cy="2399700"/>
          </a:xfrm>
        </p:grpSpPr>
        <p:sp>
          <p:nvSpPr>
            <p:cNvPr id="538" name="Google Shape;538;g331f5041ea0_0_1004"/>
            <p:cNvSpPr/>
            <p:nvPr/>
          </p:nvSpPr>
          <p:spPr>
            <a:xfrm rot="5400000">
              <a:off x="2458209" y="1883369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FB56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331f5041ea0_0_1004"/>
            <p:cNvSpPr/>
            <p:nvPr/>
          </p:nvSpPr>
          <p:spPr>
            <a:xfrm flipH="1" rot="10800000">
              <a:off x="2834043" y="1687411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AC11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0" name="Google Shape;540;g331f5041ea0_0_1004"/>
          <p:cNvSpPr txBox="1"/>
          <p:nvPr/>
        </p:nvSpPr>
        <p:spPr>
          <a:xfrm>
            <a:off x="267250" y="825075"/>
            <a:ext cx="15894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Dataset Exploration</a:t>
            </a:r>
            <a:endParaRPr b="1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1" name="Google Shape;541;g331f5041ea0_0_1004"/>
          <p:cNvSpPr txBox="1"/>
          <p:nvPr/>
        </p:nvSpPr>
        <p:spPr>
          <a:xfrm>
            <a:off x="1723100" y="3639550"/>
            <a:ext cx="1384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Product </a:t>
            </a:r>
            <a:endParaRPr b="1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&amp; Pricing Agents</a:t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2" name="Google Shape;542;g331f5041ea0_0_1004"/>
          <p:cNvSpPr txBox="1"/>
          <p:nvPr/>
        </p:nvSpPr>
        <p:spPr>
          <a:xfrm>
            <a:off x="2973125" y="748875"/>
            <a:ext cx="18801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Review Summarization &amp; Sentiment Analysis</a:t>
            </a:r>
            <a:endParaRPr b="0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3" name="Google Shape;543;g331f5041ea0_0_1004"/>
          <p:cNvSpPr txBox="1"/>
          <p:nvPr/>
        </p:nvSpPr>
        <p:spPr>
          <a:xfrm>
            <a:off x="4771838" y="3613600"/>
            <a:ext cx="12369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Building Multi-Agent System </a:t>
            </a:r>
            <a:endParaRPr b="1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4" name="Google Shape;544;g331f5041ea0_0_1004"/>
          <p:cNvSpPr txBox="1"/>
          <p:nvPr/>
        </p:nvSpPr>
        <p:spPr>
          <a:xfrm>
            <a:off x="5888199" y="794425"/>
            <a:ext cx="18801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API Development</a:t>
            </a:r>
            <a:endParaRPr b="1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&amp; Deploy Prep</a:t>
            </a:r>
            <a:endParaRPr b="1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5" name="Google Shape;545;g331f5041ea0_0_1004"/>
          <p:cNvSpPr txBox="1"/>
          <p:nvPr/>
        </p:nvSpPr>
        <p:spPr>
          <a:xfrm>
            <a:off x="7375625" y="3564550"/>
            <a:ext cx="1719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UI/UX Integration </a:t>
            </a:r>
            <a:endParaRPr b="1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&amp;</a:t>
            </a:r>
            <a:endParaRPr b="1" i="0" sz="15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Deployment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6" name="Google Shape;546;g331f5041ea0_0_10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3025" y="2087524"/>
            <a:ext cx="963651" cy="96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331f5041ea0_0_10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2022" y="2051000"/>
            <a:ext cx="1027700" cy="10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g331f5041ea0_0_10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887" y="2039000"/>
            <a:ext cx="1095125" cy="109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g331f5041ea0_0_10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4900" y="2044302"/>
            <a:ext cx="1068250" cy="106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331f5041ea0_0_100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175" y="2057900"/>
            <a:ext cx="1027700" cy="10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g331f5041ea0_0_100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92375" y="2044075"/>
            <a:ext cx="1068250" cy="106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31f5041ea0_0_1793"/>
          <p:cNvSpPr txBox="1"/>
          <p:nvPr>
            <p:ph type="title"/>
          </p:nvPr>
        </p:nvSpPr>
        <p:spPr>
          <a:xfrm>
            <a:off x="403375" y="172900"/>
            <a:ext cx="78867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What you need to do this week?</a:t>
            </a:r>
            <a:endParaRPr b="1" sz="3200">
              <a:solidFill>
                <a:schemeClr val="accent4"/>
              </a:solidFill>
            </a:endParaRPr>
          </a:p>
        </p:txBody>
      </p:sp>
      <p:sp>
        <p:nvSpPr>
          <p:cNvPr id="557" name="Google Shape;557;g331f5041ea0_0_1793"/>
          <p:cNvSpPr txBox="1"/>
          <p:nvPr/>
        </p:nvSpPr>
        <p:spPr>
          <a:xfrm>
            <a:off x="457200" y="2450975"/>
            <a:ext cx="7444800" cy="20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</a:t>
            </a:r>
            <a:r>
              <a:rPr b="1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Document Your Approach</a:t>
            </a:r>
            <a:endParaRPr b="1" i="0" sz="16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Use the provided template to outline your </a:t>
            </a:r>
            <a:r>
              <a:rPr b="1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plan</a:t>
            </a: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for building the project.</a:t>
            </a:r>
            <a:endParaRPr b="0" i="0" sz="16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Research tools, technologies, and best practices.</a:t>
            </a:r>
            <a:endParaRPr b="0" i="0" sz="16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Fira Sans"/>
                <a:ea typeface="Fira Sans"/>
                <a:cs typeface="Fira Sans"/>
                <a:sym typeface="Fira Sans"/>
                <a:hlinkClick r:id="rId3"/>
              </a:rPr>
              <a:t>Template</a:t>
            </a:r>
            <a:endParaRPr b="0" i="0" sz="16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✅ </a:t>
            </a:r>
            <a:r>
              <a:rPr b="1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High-Level Design</a:t>
            </a:r>
            <a:endParaRPr b="1" i="0" sz="16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Define the </a:t>
            </a:r>
            <a:r>
              <a:rPr b="1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architecture (tentative)</a:t>
            </a: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of your app.</a:t>
            </a:r>
            <a:endParaRPr b="0" i="0" sz="16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b="0" i="0" sz="16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558" name="Google Shape;558;g331f5041ea0_0_1793"/>
          <p:cNvGrpSpPr/>
          <p:nvPr/>
        </p:nvGrpSpPr>
        <p:grpSpPr>
          <a:xfrm>
            <a:off x="457188" y="970749"/>
            <a:ext cx="7061078" cy="1164099"/>
            <a:chOff x="2248350" y="1243925"/>
            <a:chExt cx="3885477" cy="996575"/>
          </a:xfrm>
        </p:grpSpPr>
        <p:sp>
          <p:nvSpPr>
            <p:cNvPr id="559" name="Google Shape;559;g331f5041ea0_0_1793"/>
            <p:cNvSpPr/>
            <p:nvPr/>
          </p:nvSpPr>
          <p:spPr>
            <a:xfrm>
              <a:off x="2248362" y="1243925"/>
              <a:ext cx="3885465" cy="736700"/>
            </a:xfrm>
            <a:custGeom>
              <a:rect b="b" l="l" r="r" t="t"/>
              <a:pathLst>
                <a:path extrusionOk="0" h="29468" w="140816">
                  <a:moveTo>
                    <a:pt x="8514" y="0"/>
                  </a:moveTo>
                  <a:lnTo>
                    <a:pt x="1" y="14740"/>
                  </a:lnTo>
                  <a:lnTo>
                    <a:pt x="8514" y="29468"/>
                  </a:lnTo>
                  <a:lnTo>
                    <a:pt x="132303" y="29468"/>
                  </a:lnTo>
                  <a:lnTo>
                    <a:pt x="140816" y="14740"/>
                  </a:lnTo>
                  <a:lnTo>
                    <a:pt x="132303" y="0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331f5041ea0_0_1793"/>
            <p:cNvSpPr/>
            <p:nvPr/>
          </p:nvSpPr>
          <p:spPr>
            <a:xfrm>
              <a:off x="3078275" y="1557063"/>
              <a:ext cx="44675" cy="204800"/>
            </a:xfrm>
            <a:custGeom>
              <a:rect b="b" l="l" r="r" t="t"/>
              <a:pathLst>
                <a:path extrusionOk="0" h="8192" w="1787">
                  <a:moveTo>
                    <a:pt x="0" y="0"/>
                  </a:moveTo>
                  <a:lnTo>
                    <a:pt x="0" y="8192"/>
                  </a:lnTo>
                  <a:lnTo>
                    <a:pt x="1786" y="819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331f5041ea0_0_1793"/>
            <p:cNvSpPr/>
            <p:nvPr/>
          </p:nvSpPr>
          <p:spPr>
            <a:xfrm>
              <a:off x="3018750" y="1594263"/>
              <a:ext cx="44650" cy="167600"/>
            </a:xfrm>
            <a:custGeom>
              <a:rect b="b" l="l" r="r" t="t"/>
              <a:pathLst>
                <a:path extrusionOk="0" h="6704" w="1786">
                  <a:moveTo>
                    <a:pt x="0" y="1"/>
                  </a:moveTo>
                  <a:lnTo>
                    <a:pt x="0" y="6704"/>
                  </a:lnTo>
                  <a:lnTo>
                    <a:pt x="1786" y="6704"/>
                  </a:lnTo>
                  <a:lnTo>
                    <a:pt x="1786" y="1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331f5041ea0_0_1793"/>
            <p:cNvSpPr/>
            <p:nvPr/>
          </p:nvSpPr>
          <p:spPr>
            <a:xfrm>
              <a:off x="2963075" y="1631488"/>
              <a:ext cx="44675" cy="130375"/>
            </a:xfrm>
            <a:custGeom>
              <a:rect b="b" l="l" r="r" t="t"/>
              <a:pathLst>
                <a:path extrusionOk="0" h="5215" w="1787">
                  <a:moveTo>
                    <a:pt x="1" y="0"/>
                  </a:moveTo>
                  <a:lnTo>
                    <a:pt x="1" y="5215"/>
                  </a:lnTo>
                  <a:lnTo>
                    <a:pt x="1787" y="5215"/>
                  </a:lnTo>
                  <a:lnTo>
                    <a:pt x="1787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g331f5041ea0_0_1793"/>
            <p:cNvSpPr/>
            <p:nvPr/>
          </p:nvSpPr>
          <p:spPr>
            <a:xfrm>
              <a:off x="2903550" y="1672563"/>
              <a:ext cx="44675" cy="89300"/>
            </a:xfrm>
            <a:custGeom>
              <a:rect b="b" l="l" r="r" t="t"/>
              <a:pathLst>
                <a:path extrusionOk="0" h="3572" w="1787">
                  <a:moveTo>
                    <a:pt x="0" y="0"/>
                  </a:moveTo>
                  <a:lnTo>
                    <a:pt x="0" y="3572"/>
                  </a:lnTo>
                  <a:lnTo>
                    <a:pt x="1786" y="3572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331f5041ea0_0_1793"/>
            <p:cNvSpPr/>
            <p:nvPr/>
          </p:nvSpPr>
          <p:spPr>
            <a:xfrm>
              <a:off x="2248350" y="1243925"/>
              <a:ext cx="882275" cy="996575"/>
            </a:xfrm>
            <a:custGeom>
              <a:rect b="b" l="l" r="r" t="t"/>
              <a:pathLst>
                <a:path extrusionOk="0" h="39863" w="35291">
                  <a:moveTo>
                    <a:pt x="1" y="0"/>
                  </a:moveTo>
                  <a:lnTo>
                    <a:pt x="1" y="29468"/>
                  </a:lnTo>
                  <a:lnTo>
                    <a:pt x="17646" y="39862"/>
                  </a:lnTo>
                  <a:lnTo>
                    <a:pt x="35291" y="29468"/>
                  </a:lnTo>
                  <a:lnTo>
                    <a:pt x="35291" y="0"/>
                  </a:lnTo>
                  <a:close/>
                </a:path>
              </a:pathLst>
            </a:custGeom>
            <a:solidFill>
              <a:srgbClr val="9ED1FD"/>
            </a:solidFill>
            <a:ln>
              <a:noFill/>
            </a:ln>
          </p:spPr>
          <p:txBody>
            <a:bodyPr anchorCtr="0" anchor="ctr" bIns="2743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" sz="2900" u="none" cap="none" strike="noStrike">
                  <a:solidFill>
                    <a:srgbClr val="66666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b="0" i="0" sz="2900" u="none" cap="none" strike="noStrike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65" name="Google Shape;565;g331f5041ea0_0_1793"/>
            <p:cNvSpPr/>
            <p:nvPr/>
          </p:nvSpPr>
          <p:spPr>
            <a:xfrm>
              <a:off x="3137822" y="1457875"/>
              <a:ext cx="2858400" cy="27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" sz="1700" u="none" cap="none" strike="noStrike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Project Initialization &amp; Fundamentals</a:t>
              </a:r>
              <a:endParaRPr b="0" i="0" sz="1700" u="none" cap="none" strike="noStrike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